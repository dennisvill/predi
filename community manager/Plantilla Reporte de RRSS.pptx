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y="5143500" cx="9144000"/>
  <p:notesSz cx="6858000" cy="9144000"/>
  <p:embeddedFontLst>
    <p:embeddedFont>
      <p:font typeface="Open Sans ExtraBold"/>
      <p:bold r:id="rId24"/>
      <p:boldItalic r:id="rId25"/>
    </p:embeddedFont>
    <p:embeddedFont>
      <p:font typeface="Arial Black"/>
      <p:regular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ihI3Q/nHGabn1CmeBZYcyXJNY6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6259EF0-57F0-40CD-9772-9BDF4406E2EE}">
  <a:tblStyle styleId="{56259EF0-57F0-40CD-9772-9BDF4406E2E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49267E81-CFB1-4B05-8764-552D1EE78C75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OpenSansExtraBold-bold.fntdata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ArialBlack-regular.fntdata"/><Relationship Id="rId25" Type="http://schemas.openxmlformats.org/officeDocument/2006/relationships/font" Target="fonts/OpenSansExtraBold-boldItalic.fntdata"/><Relationship Id="rId27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e0adecf310_2_152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1e0adecf310_2_152:notes"/>
          <p:cNvSpPr/>
          <p:nvPr>
            <p:ph idx="2" type="sldImg"/>
          </p:nvPr>
        </p:nvSpPr>
        <p:spPr>
          <a:xfrm>
            <a:off x="1143225" y="685778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e0adecf310_2_159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1e0adecf310_2_159:notes"/>
          <p:cNvSpPr/>
          <p:nvPr>
            <p:ph idx="2" type="sldImg"/>
          </p:nvPr>
        </p:nvSpPr>
        <p:spPr>
          <a:xfrm>
            <a:off x="1143225" y="685778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e0adecf310_2_193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1e0adecf310_2_193:notes"/>
          <p:cNvSpPr/>
          <p:nvPr>
            <p:ph idx="2" type="sldImg"/>
          </p:nvPr>
        </p:nvSpPr>
        <p:spPr>
          <a:xfrm>
            <a:off x="1143225" y="685778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e0adecf310_2_291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1e0adecf310_2_291:notes"/>
          <p:cNvSpPr/>
          <p:nvPr>
            <p:ph idx="2" type="sldImg"/>
          </p:nvPr>
        </p:nvSpPr>
        <p:spPr>
          <a:xfrm>
            <a:off x="1143225" y="685778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e0adecf310_2_5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1e0adecf310_2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e0adecf310_2_5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1e0adecf310_2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e0adecf310_2_5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1e0adecf310_2_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e0adecf310_2_5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g1e0adecf310_2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e0adecf310_2_406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1e0adecf310_2_406:notes"/>
          <p:cNvSpPr/>
          <p:nvPr>
            <p:ph idx="2" type="sldImg"/>
          </p:nvPr>
        </p:nvSpPr>
        <p:spPr>
          <a:xfrm>
            <a:off x="1143225" y="685778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e0adecf310_2_413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1e0adecf310_2_413:notes"/>
          <p:cNvSpPr/>
          <p:nvPr>
            <p:ph idx="2" type="sldImg"/>
          </p:nvPr>
        </p:nvSpPr>
        <p:spPr>
          <a:xfrm>
            <a:off x="1143225" y="685778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e0adecf310_2_425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1e0adecf310_2_425:notes"/>
          <p:cNvSpPr/>
          <p:nvPr>
            <p:ph idx="2" type="sldImg"/>
          </p:nvPr>
        </p:nvSpPr>
        <p:spPr>
          <a:xfrm>
            <a:off x="1143225" y="685778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1e0adecf310_2_435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1e0adecf310_2_435:notes"/>
          <p:cNvSpPr/>
          <p:nvPr>
            <p:ph idx="2" type="sldImg"/>
          </p:nvPr>
        </p:nvSpPr>
        <p:spPr>
          <a:xfrm>
            <a:off x="1143225" y="685778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e0adecf310_2_445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1e0adecf310_2_445:notes"/>
          <p:cNvSpPr/>
          <p:nvPr>
            <p:ph idx="2" type="sldImg"/>
          </p:nvPr>
        </p:nvSpPr>
        <p:spPr>
          <a:xfrm>
            <a:off x="1143225" y="685778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e0adecf310_2_452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1e0adecf310_2_452:notes"/>
          <p:cNvSpPr/>
          <p:nvPr>
            <p:ph idx="2" type="sldImg"/>
          </p:nvPr>
        </p:nvSpPr>
        <p:spPr>
          <a:xfrm>
            <a:off x="1143225" y="685778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2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 type="obj">
  <p:cSld name="OBJECT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e0adecf310_2_474"/>
          <p:cNvSpPr txBox="1"/>
          <p:nvPr>
            <p:ph type="title"/>
          </p:nvPr>
        </p:nvSpPr>
        <p:spPr>
          <a:xfrm>
            <a:off x="353875" y="183658"/>
            <a:ext cx="84363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g1e0adecf310_2_474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g1e0adecf310_2_47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g1e0adecf310_2_474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e0adecf310_2_479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g1e0adecf310_2_479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g1e0adecf310_2_479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e0adecf310_2_483"/>
          <p:cNvSpPr/>
          <p:nvPr/>
        </p:nvSpPr>
        <p:spPr>
          <a:xfrm>
            <a:off x="0" y="790500"/>
            <a:ext cx="9144000" cy="4353560"/>
          </a:xfrm>
          <a:custGeom>
            <a:rect b="b" l="l" r="r" t="t"/>
            <a:pathLst>
              <a:path extrusionOk="0" h="4353560" w="9144000">
                <a:moveTo>
                  <a:pt x="0" y="4352999"/>
                </a:moveTo>
                <a:lnTo>
                  <a:pt x="9143999" y="4352999"/>
                </a:lnTo>
                <a:lnTo>
                  <a:pt x="9143999" y="0"/>
                </a:lnTo>
                <a:lnTo>
                  <a:pt x="0" y="0"/>
                </a:lnTo>
                <a:lnTo>
                  <a:pt x="0" y="4352999"/>
                </a:lnTo>
                <a:close/>
              </a:path>
            </a:pathLst>
          </a:custGeom>
          <a:solidFill>
            <a:srgbClr val="FCFCF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g1e0adecf310_2_483"/>
          <p:cNvSpPr txBox="1"/>
          <p:nvPr>
            <p:ph type="title"/>
          </p:nvPr>
        </p:nvSpPr>
        <p:spPr>
          <a:xfrm>
            <a:off x="353875" y="183658"/>
            <a:ext cx="84363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g1e0adecf310_2_483"/>
          <p:cNvSpPr txBox="1"/>
          <p:nvPr>
            <p:ph idx="1" type="body"/>
          </p:nvPr>
        </p:nvSpPr>
        <p:spPr>
          <a:xfrm>
            <a:off x="342712" y="1282662"/>
            <a:ext cx="7895700" cy="17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g1e0adecf310_2_483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g1e0adecf310_2_48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1e0adecf310_2_483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e0adecf310_2_490"/>
          <p:cNvSpPr txBox="1"/>
          <p:nvPr>
            <p:ph type="ctrTitle"/>
          </p:nvPr>
        </p:nvSpPr>
        <p:spPr>
          <a:xfrm>
            <a:off x="685800" y="1594485"/>
            <a:ext cx="77724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g1e0adecf310_2_490"/>
          <p:cNvSpPr txBox="1"/>
          <p:nvPr>
            <p:ph idx="1" type="subTitle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g1e0adecf310_2_490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g1e0adecf310_2_490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g1e0adecf310_2_490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e0adecf310_2_496"/>
          <p:cNvSpPr/>
          <p:nvPr/>
        </p:nvSpPr>
        <p:spPr>
          <a:xfrm>
            <a:off x="0" y="790500"/>
            <a:ext cx="9144000" cy="4353560"/>
          </a:xfrm>
          <a:custGeom>
            <a:rect b="b" l="l" r="r" t="t"/>
            <a:pathLst>
              <a:path extrusionOk="0" h="4353560" w="9144000">
                <a:moveTo>
                  <a:pt x="0" y="4352999"/>
                </a:moveTo>
                <a:lnTo>
                  <a:pt x="9143999" y="4352999"/>
                </a:lnTo>
                <a:lnTo>
                  <a:pt x="9143999" y="0"/>
                </a:lnTo>
                <a:lnTo>
                  <a:pt x="0" y="0"/>
                </a:lnTo>
                <a:lnTo>
                  <a:pt x="0" y="4352999"/>
                </a:lnTo>
                <a:close/>
              </a:path>
            </a:pathLst>
          </a:custGeom>
          <a:solidFill>
            <a:srgbClr val="FCFCF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g1e0adecf310_2_496"/>
          <p:cNvSpPr/>
          <p:nvPr/>
        </p:nvSpPr>
        <p:spPr>
          <a:xfrm>
            <a:off x="4081774" y="2104325"/>
            <a:ext cx="0" cy="2480945"/>
          </a:xfrm>
          <a:custGeom>
            <a:rect b="b" l="l" r="r" t="t"/>
            <a:pathLst>
              <a:path extrusionOk="0" h="2480945" w="120000">
                <a:moveTo>
                  <a:pt x="0" y="0"/>
                </a:moveTo>
                <a:lnTo>
                  <a:pt x="0" y="2480399"/>
                </a:lnTo>
              </a:path>
            </a:pathLst>
          </a:custGeom>
          <a:noFill/>
          <a:ln cap="flat" cmpd="sng" w="9525">
            <a:solidFill>
              <a:srgbClr val="DADA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g1e0adecf310_2_496"/>
          <p:cNvSpPr txBox="1"/>
          <p:nvPr>
            <p:ph type="title"/>
          </p:nvPr>
        </p:nvSpPr>
        <p:spPr>
          <a:xfrm>
            <a:off x="353875" y="183658"/>
            <a:ext cx="84363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g1e0adecf310_2_496"/>
          <p:cNvSpPr txBox="1"/>
          <p:nvPr>
            <p:ph idx="1" type="body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g1e0adecf310_2_496"/>
          <p:cNvSpPr txBox="1"/>
          <p:nvPr>
            <p:ph idx="2" type="body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g1e0adecf310_2_496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g1e0adecf310_2_49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g1e0adecf310_2_496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e0adecf310_2_468"/>
          <p:cNvSpPr txBox="1"/>
          <p:nvPr>
            <p:ph type="title"/>
          </p:nvPr>
        </p:nvSpPr>
        <p:spPr>
          <a:xfrm>
            <a:off x="353875" y="183658"/>
            <a:ext cx="84363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g1e0adecf310_2_468"/>
          <p:cNvSpPr txBox="1"/>
          <p:nvPr>
            <p:ph idx="1" type="body"/>
          </p:nvPr>
        </p:nvSpPr>
        <p:spPr>
          <a:xfrm>
            <a:off x="342712" y="1282662"/>
            <a:ext cx="7895700" cy="17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g1e0adecf310_2_468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g1e0adecf310_2_468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g1e0adecf310_2_468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060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/>
          <p:nvPr/>
        </p:nvSpPr>
        <p:spPr>
          <a:xfrm>
            <a:off x="6979650" y="4548650"/>
            <a:ext cx="2019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[colocá tu logo aquí]</a:t>
            </a:r>
            <a:endParaRPr b="0" i="0" sz="1200" u="none" cap="none" strike="noStrike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8839570" y="0"/>
            <a:ext cx="304500" cy="514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387736" y="1791475"/>
            <a:ext cx="7706100" cy="12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Informe de redes sociales de [nombre de la empresa]</a:t>
            </a:r>
            <a:endParaRPr sz="4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387723" y="4019550"/>
            <a:ext cx="38199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[Fecha]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401960" y="4400550"/>
            <a:ext cx="38199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">
                <a:solidFill>
                  <a:srgbClr val="FFFFFF"/>
                </a:solidFill>
              </a:rPr>
              <a:t>Tu nombre/ tu marca</a:t>
            </a:r>
            <a:r>
              <a:rPr b="0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A1DA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e0adecf310_2_152"/>
          <p:cNvSpPr txBox="1"/>
          <p:nvPr>
            <p:ph type="title"/>
          </p:nvPr>
        </p:nvSpPr>
        <p:spPr>
          <a:xfrm>
            <a:off x="650300" y="1809750"/>
            <a:ext cx="7198200" cy="13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400">
            <a:spAutoFit/>
          </a:bodyPr>
          <a:lstStyle/>
          <a:p>
            <a:pPr indent="-742950" lvl="0" marL="74295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AutoNum type="arabicPeriod"/>
            </a:pPr>
            <a:r>
              <a:rPr b="0" lang="en" sz="4400">
                <a:latin typeface="Arial Black"/>
                <a:ea typeface="Arial Black"/>
                <a:cs typeface="Arial Black"/>
                <a:sym typeface="Arial Black"/>
              </a:rPr>
              <a:t>Resumen de métricas principales</a:t>
            </a:r>
            <a:endParaRPr b="0" sz="44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1" name="Google Shape;101;g1e0adecf310_2_152"/>
          <p:cNvSpPr txBox="1"/>
          <p:nvPr/>
        </p:nvSpPr>
        <p:spPr>
          <a:xfrm>
            <a:off x="371098" y="301314"/>
            <a:ext cx="38199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[Nombre de la empresa]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1e0adecf310_2_152"/>
          <p:cNvSpPr txBox="1"/>
          <p:nvPr/>
        </p:nvSpPr>
        <p:spPr>
          <a:xfrm>
            <a:off x="4953000" y="301314"/>
            <a:ext cx="38199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[Fecha]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1e0adecf310_2_152"/>
          <p:cNvSpPr/>
          <p:nvPr/>
        </p:nvSpPr>
        <p:spPr>
          <a:xfrm>
            <a:off x="0" y="4781550"/>
            <a:ext cx="9144000" cy="362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e0adecf310_2_159"/>
          <p:cNvSpPr txBox="1"/>
          <p:nvPr/>
        </p:nvSpPr>
        <p:spPr>
          <a:xfrm>
            <a:off x="512826" y="254336"/>
            <a:ext cx="52272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Resumen de logro de objetivos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1e0adecf310_2_159"/>
          <p:cNvSpPr/>
          <p:nvPr/>
        </p:nvSpPr>
        <p:spPr>
          <a:xfrm>
            <a:off x="5273040" y="254901"/>
            <a:ext cx="3489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Entre [fecha] y [fecha], logramos lo siguiente: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" name="Google Shape;110;g1e0adecf310_2_159"/>
          <p:cNvGrpSpPr/>
          <p:nvPr/>
        </p:nvGrpSpPr>
        <p:grpSpPr>
          <a:xfrm>
            <a:off x="512804" y="971550"/>
            <a:ext cx="2653198" cy="3809994"/>
            <a:chOff x="493776" y="1109382"/>
            <a:chExt cx="2841900" cy="3809994"/>
          </a:xfrm>
        </p:grpSpPr>
        <p:sp>
          <p:nvSpPr>
            <p:cNvPr id="111" name="Google Shape;111;g1e0adecf310_2_159"/>
            <p:cNvSpPr/>
            <p:nvPr/>
          </p:nvSpPr>
          <p:spPr>
            <a:xfrm>
              <a:off x="493776" y="1109382"/>
              <a:ext cx="2841900" cy="381000"/>
            </a:xfrm>
            <a:prstGeom prst="roundRect">
              <a:avLst>
                <a:gd fmla="val 50000" name="adj"/>
              </a:avLst>
            </a:prstGeom>
            <a:solidFill>
              <a:srgbClr val="00A1D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KPI = Seguidores nuevos</a:t>
              </a:r>
              <a:endParaRPr/>
            </a:p>
          </p:txBody>
        </p:sp>
        <p:sp>
          <p:nvSpPr>
            <p:cNvPr id="112" name="Google Shape;112;g1e0adecf310_2_159"/>
            <p:cNvSpPr/>
            <p:nvPr/>
          </p:nvSpPr>
          <p:spPr>
            <a:xfrm>
              <a:off x="498258" y="3351276"/>
              <a:ext cx="2837400" cy="1568100"/>
            </a:xfrm>
            <a:prstGeom prst="roundRect">
              <a:avLst>
                <a:gd fmla="val 0" name="adj"/>
              </a:avLst>
            </a:prstGeom>
            <a:solidFill>
              <a:srgbClr val="00206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g1e0adecf310_2_159"/>
            <p:cNvSpPr txBox="1"/>
            <p:nvPr/>
          </p:nvSpPr>
          <p:spPr>
            <a:xfrm>
              <a:off x="957700" y="1640845"/>
              <a:ext cx="1905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Resultado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g1e0adecf310_2_159"/>
            <p:cNvSpPr txBox="1"/>
            <p:nvPr/>
          </p:nvSpPr>
          <p:spPr>
            <a:xfrm>
              <a:off x="927220" y="2540429"/>
              <a:ext cx="1905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Objetivo previsto</a:t>
              </a:r>
              <a:endParaRPr b="0" i="0" sz="1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g1e0adecf310_2_159"/>
            <p:cNvSpPr txBox="1"/>
            <p:nvPr/>
          </p:nvSpPr>
          <p:spPr>
            <a:xfrm>
              <a:off x="957700" y="1835652"/>
              <a:ext cx="1905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2800" u="none" cap="none" strike="noStrike">
                  <a:solidFill>
                    <a:schemeClr val="dk1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18.366</a:t>
              </a:r>
              <a:endParaRPr b="0" i="0" sz="28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</p:txBody>
        </p:sp>
        <p:sp>
          <p:nvSpPr>
            <p:cNvPr id="116" name="Google Shape;116;g1e0adecf310_2_159"/>
            <p:cNvSpPr txBox="1"/>
            <p:nvPr/>
          </p:nvSpPr>
          <p:spPr>
            <a:xfrm>
              <a:off x="927220" y="2755492"/>
              <a:ext cx="1905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600" u="none" cap="none" strike="noStrike">
                  <a:solidFill>
                    <a:srgbClr val="7F7F7F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10.000</a:t>
              </a:r>
              <a:endParaRPr b="0" i="0" sz="1600" u="none" cap="none" strike="noStrike">
                <a:solidFill>
                  <a:srgbClr val="7F7F7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</p:txBody>
        </p:sp>
        <p:sp>
          <p:nvSpPr>
            <p:cNvPr id="117" name="Google Shape;117;g1e0adecf310_2_159"/>
            <p:cNvSpPr txBox="1"/>
            <p:nvPr/>
          </p:nvSpPr>
          <p:spPr>
            <a:xfrm>
              <a:off x="493776" y="3469645"/>
              <a:ext cx="28419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Acciones realizadas</a:t>
              </a:r>
              <a:endParaRPr/>
            </a:p>
          </p:txBody>
        </p:sp>
        <p:sp>
          <p:nvSpPr>
            <p:cNvPr id="118" name="Google Shape;118;g1e0adecf310_2_159"/>
            <p:cNvSpPr txBox="1"/>
            <p:nvPr/>
          </p:nvSpPr>
          <p:spPr>
            <a:xfrm>
              <a:off x="590909" y="3788789"/>
              <a:ext cx="26520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Char char="•"/>
              </a:pPr>
              <a:r>
                <a:rPr b="0" i="0" lang="en" sz="1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Nueva estrategia de hashtags</a:t>
              </a:r>
              <a:endParaRPr/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Char char="•"/>
              </a:pPr>
              <a:r>
                <a:rPr b="0" i="0" lang="en" sz="1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Colaboración con @ejemplo</a:t>
              </a:r>
              <a:endParaRPr/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Char char="•"/>
              </a:pPr>
              <a:r>
                <a:rPr b="0" i="0" lang="en" sz="1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Aumento de frecuencia de publicación.</a:t>
              </a:r>
              <a:endParaRPr/>
            </a:p>
          </p:txBody>
        </p:sp>
      </p:grpSp>
      <p:grpSp>
        <p:nvGrpSpPr>
          <p:cNvPr id="119" name="Google Shape;119;g1e0adecf310_2_159"/>
          <p:cNvGrpSpPr/>
          <p:nvPr/>
        </p:nvGrpSpPr>
        <p:grpSpPr>
          <a:xfrm>
            <a:off x="3311271" y="971550"/>
            <a:ext cx="2653198" cy="3809994"/>
            <a:chOff x="493776" y="1109382"/>
            <a:chExt cx="2841900" cy="3809994"/>
          </a:xfrm>
        </p:grpSpPr>
        <p:sp>
          <p:nvSpPr>
            <p:cNvPr id="120" name="Google Shape;120;g1e0adecf310_2_159"/>
            <p:cNvSpPr/>
            <p:nvPr/>
          </p:nvSpPr>
          <p:spPr>
            <a:xfrm>
              <a:off x="493776" y="1109382"/>
              <a:ext cx="2841900" cy="381000"/>
            </a:xfrm>
            <a:prstGeom prst="roundRect">
              <a:avLst>
                <a:gd fmla="val 50000" name="adj"/>
              </a:avLst>
            </a:prstGeom>
            <a:solidFill>
              <a:srgbClr val="EC208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KPI = Interacciones totales</a:t>
              </a:r>
              <a:endParaRPr/>
            </a:p>
          </p:txBody>
        </p:sp>
        <p:sp>
          <p:nvSpPr>
            <p:cNvPr id="121" name="Google Shape;121;g1e0adecf310_2_159"/>
            <p:cNvSpPr/>
            <p:nvPr/>
          </p:nvSpPr>
          <p:spPr>
            <a:xfrm>
              <a:off x="498258" y="3351276"/>
              <a:ext cx="2837400" cy="1568100"/>
            </a:xfrm>
            <a:prstGeom prst="roundRect">
              <a:avLst>
                <a:gd fmla="val 0" name="adj"/>
              </a:avLst>
            </a:prstGeom>
            <a:solidFill>
              <a:srgbClr val="00206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g1e0adecf310_2_159"/>
            <p:cNvSpPr txBox="1"/>
            <p:nvPr/>
          </p:nvSpPr>
          <p:spPr>
            <a:xfrm>
              <a:off x="957700" y="1640845"/>
              <a:ext cx="1905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Resultado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g1e0adecf310_2_159"/>
            <p:cNvSpPr txBox="1"/>
            <p:nvPr/>
          </p:nvSpPr>
          <p:spPr>
            <a:xfrm>
              <a:off x="927220" y="2540429"/>
              <a:ext cx="1905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Objetivo previsto</a:t>
              </a:r>
              <a:endParaRPr b="0" i="0" sz="1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g1e0adecf310_2_159"/>
            <p:cNvSpPr txBox="1"/>
            <p:nvPr/>
          </p:nvSpPr>
          <p:spPr>
            <a:xfrm>
              <a:off x="957700" y="1835652"/>
              <a:ext cx="1905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2800" u="none" cap="none" strike="noStrike">
                  <a:solidFill>
                    <a:schemeClr val="dk1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XXX</a:t>
              </a:r>
              <a:endParaRPr b="0" i="0" sz="28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</p:txBody>
        </p:sp>
        <p:sp>
          <p:nvSpPr>
            <p:cNvPr id="125" name="Google Shape;125;g1e0adecf310_2_159"/>
            <p:cNvSpPr txBox="1"/>
            <p:nvPr/>
          </p:nvSpPr>
          <p:spPr>
            <a:xfrm>
              <a:off x="927220" y="2755492"/>
              <a:ext cx="1905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600" u="none" cap="none" strike="noStrike">
                  <a:solidFill>
                    <a:srgbClr val="7F7F7F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XXX</a:t>
              </a:r>
              <a:endParaRPr b="0" i="0" sz="1600" u="none" cap="none" strike="noStrike">
                <a:solidFill>
                  <a:srgbClr val="7F7F7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</p:txBody>
        </p:sp>
        <p:sp>
          <p:nvSpPr>
            <p:cNvPr id="126" name="Google Shape;126;g1e0adecf310_2_159"/>
            <p:cNvSpPr txBox="1"/>
            <p:nvPr/>
          </p:nvSpPr>
          <p:spPr>
            <a:xfrm>
              <a:off x="493776" y="3469645"/>
              <a:ext cx="28419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Acciones realizadas</a:t>
              </a:r>
              <a:endParaRPr/>
            </a:p>
          </p:txBody>
        </p:sp>
        <p:sp>
          <p:nvSpPr>
            <p:cNvPr id="127" name="Google Shape;127;g1e0adecf310_2_159"/>
            <p:cNvSpPr txBox="1"/>
            <p:nvPr/>
          </p:nvSpPr>
          <p:spPr>
            <a:xfrm>
              <a:off x="590909" y="3788789"/>
              <a:ext cx="26520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Char char="•"/>
              </a:pPr>
              <a:r>
                <a:rPr b="0" i="0" lang="en" sz="1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XXXXXXXX</a:t>
              </a:r>
              <a:endParaRPr/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Char char="•"/>
              </a:pPr>
              <a:r>
                <a:rPr b="0" i="0" lang="en" sz="1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XXXXXXXX</a:t>
              </a:r>
              <a:endParaRPr/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Char char="•"/>
              </a:pPr>
              <a:r>
                <a:rPr b="0" i="0" lang="en" sz="1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XXXXXXXX</a:t>
              </a:r>
              <a:endParaRPr/>
            </a:p>
          </p:txBody>
        </p:sp>
      </p:grpSp>
      <p:grpSp>
        <p:nvGrpSpPr>
          <p:cNvPr id="128" name="Google Shape;128;g1e0adecf310_2_159"/>
          <p:cNvGrpSpPr/>
          <p:nvPr/>
        </p:nvGrpSpPr>
        <p:grpSpPr>
          <a:xfrm>
            <a:off x="6109738" y="971550"/>
            <a:ext cx="2653198" cy="3809994"/>
            <a:chOff x="493776" y="1109382"/>
            <a:chExt cx="2841900" cy="3809994"/>
          </a:xfrm>
        </p:grpSpPr>
        <p:sp>
          <p:nvSpPr>
            <p:cNvPr id="129" name="Google Shape;129;g1e0adecf310_2_159"/>
            <p:cNvSpPr/>
            <p:nvPr/>
          </p:nvSpPr>
          <p:spPr>
            <a:xfrm>
              <a:off x="493776" y="1109382"/>
              <a:ext cx="2841900" cy="381000"/>
            </a:xfrm>
            <a:prstGeom prst="roundRect">
              <a:avLst>
                <a:gd fmla="val 50000" name="adj"/>
              </a:avLst>
            </a:prstGeom>
            <a:solidFill>
              <a:srgbClr val="FF99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KPI = Visitas al sitio web</a:t>
              </a:r>
              <a:endParaRPr/>
            </a:p>
          </p:txBody>
        </p:sp>
        <p:sp>
          <p:nvSpPr>
            <p:cNvPr id="130" name="Google Shape;130;g1e0adecf310_2_159"/>
            <p:cNvSpPr/>
            <p:nvPr/>
          </p:nvSpPr>
          <p:spPr>
            <a:xfrm>
              <a:off x="498258" y="3351276"/>
              <a:ext cx="2837400" cy="1568100"/>
            </a:xfrm>
            <a:prstGeom prst="roundRect">
              <a:avLst>
                <a:gd fmla="val 0" name="adj"/>
              </a:avLst>
            </a:prstGeom>
            <a:solidFill>
              <a:srgbClr val="00206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g1e0adecf310_2_159"/>
            <p:cNvSpPr txBox="1"/>
            <p:nvPr/>
          </p:nvSpPr>
          <p:spPr>
            <a:xfrm>
              <a:off x="957700" y="1640845"/>
              <a:ext cx="1905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Resultado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g1e0adecf310_2_159"/>
            <p:cNvSpPr txBox="1"/>
            <p:nvPr/>
          </p:nvSpPr>
          <p:spPr>
            <a:xfrm>
              <a:off x="927220" y="2540429"/>
              <a:ext cx="1905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Objetivo previsto</a:t>
              </a:r>
              <a:endParaRPr b="0" i="0" sz="1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g1e0adecf310_2_159"/>
            <p:cNvSpPr txBox="1"/>
            <p:nvPr/>
          </p:nvSpPr>
          <p:spPr>
            <a:xfrm>
              <a:off x="957700" y="1835652"/>
              <a:ext cx="1905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2800" u="none" cap="none" strike="noStrike">
                  <a:solidFill>
                    <a:schemeClr val="dk1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XXX</a:t>
              </a:r>
              <a:endParaRPr b="0" i="0" sz="28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</p:txBody>
        </p:sp>
        <p:sp>
          <p:nvSpPr>
            <p:cNvPr id="134" name="Google Shape;134;g1e0adecf310_2_159"/>
            <p:cNvSpPr txBox="1"/>
            <p:nvPr/>
          </p:nvSpPr>
          <p:spPr>
            <a:xfrm>
              <a:off x="927220" y="2755492"/>
              <a:ext cx="1905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600" u="none" cap="none" strike="noStrike">
                  <a:solidFill>
                    <a:srgbClr val="7F7F7F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XXX</a:t>
              </a:r>
              <a:endParaRPr b="0" i="0" sz="1600" u="none" cap="none" strike="noStrike">
                <a:solidFill>
                  <a:srgbClr val="7F7F7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</p:txBody>
        </p:sp>
        <p:sp>
          <p:nvSpPr>
            <p:cNvPr id="135" name="Google Shape;135;g1e0adecf310_2_159"/>
            <p:cNvSpPr txBox="1"/>
            <p:nvPr/>
          </p:nvSpPr>
          <p:spPr>
            <a:xfrm>
              <a:off x="493776" y="3469645"/>
              <a:ext cx="28419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Acciones realizadas</a:t>
              </a:r>
              <a:endParaRPr/>
            </a:p>
          </p:txBody>
        </p:sp>
        <p:sp>
          <p:nvSpPr>
            <p:cNvPr id="136" name="Google Shape;136;g1e0adecf310_2_159"/>
            <p:cNvSpPr txBox="1"/>
            <p:nvPr/>
          </p:nvSpPr>
          <p:spPr>
            <a:xfrm>
              <a:off x="590909" y="3788789"/>
              <a:ext cx="26520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Char char="•"/>
              </a:pPr>
              <a:r>
                <a:rPr b="0" i="0" lang="en" sz="1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XXXXXXXX</a:t>
              </a:r>
              <a:endParaRPr/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Char char="•"/>
              </a:pPr>
              <a:r>
                <a:rPr b="0" i="0" lang="en" sz="1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XXXXXXXX</a:t>
              </a:r>
              <a:endParaRPr/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Char char="•"/>
              </a:pPr>
              <a:r>
                <a:rPr b="0" i="0" lang="en" sz="1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XXXXXXXX</a:t>
              </a:r>
              <a:endParaRPr b="0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37" name="Google Shape;137;g1e0adecf310_2_159"/>
          <p:cNvCxnSpPr/>
          <p:nvPr/>
        </p:nvCxnSpPr>
        <p:spPr>
          <a:xfrm>
            <a:off x="512826" y="666750"/>
            <a:ext cx="8250300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" name="Google Shape;138;g1e0adecf310_2_159"/>
          <p:cNvSpPr/>
          <p:nvPr/>
        </p:nvSpPr>
        <p:spPr>
          <a:xfrm>
            <a:off x="5318704" y="1630157"/>
            <a:ext cx="1371600" cy="922200"/>
          </a:xfrm>
          <a:prstGeom prst="wedgeRectCallout">
            <a:avLst>
              <a:gd fmla="val -33923" name="adj1"/>
              <a:gd fmla="val -86100" name="adj2"/>
            </a:avLst>
          </a:prstGeom>
          <a:solidFill>
            <a:srgbClr val="FFFF00"/>
          </a:solidFill>
          <a:ln>
            <a:noFill/>
          </a:ln>
          <a:effectLst>
            <a:outerShdw blurRad="330200" rotWithShape="0" algn="tl" dir="2700000" dist="38100">
              <a:srgbClr val="000000">
                <a:alpha val="1569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Reemplazá estos ejemplos por tus propias métricas clave</a:t>
            </a:r>
            <a:endParaRPr b="0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e0adecf310_2_193"/>
          <p:cNvSpPr/>
          <p:nvPr/>
        </p:nvSpPr>
        <p:spPr>
          <a:xfrm>
            <a:off x="3771900" y="254901"/>
            <a:ext cx="4991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Comparado con el período anterior, logramos el siguiente crecimiento: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" name="Google Shape;144;g1e0adecf310_2_193"/>
          <p:cNvCxnSpPr/>
          <p:nvPr/>
        </p:nvCxnSpPr>
        <p:spPr>
          <a:xfrm>
            <a:off x="512826" y="666750"/>
            <a:ext cx="8250300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g1e0adecf310_2_193"/>
          <p:cNvSpPr/>
          <p:nvPr/>
        </p:nvSpPr>
        <p:spPr>
          <a:xfrm>
            <a:off x="512826" y="3409949"/>
            <a:ext cx="8174100" cy="762000"/>
          </a:xfrm>
          <a:prstGeom prst="roundRect">
            <a:avLst>
              <a:gd fmla="val 16667" name="adj"/>
            </a:avLst>
          </a:prstGeom>
          <a:solidFill>
            <a:srgbClr val="00A1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1e0adecf310_2_193"/>
          <p:cNvSpPr/>
          <p:nvPr/>
        </p:nvSpPr>
        <p:spPr>
          <a:xfrm>
            <a:off x="512826" y="2419350"/>
            <a:ext cx="8174100" cy="762000"/>
          </a:xfrm>
          <a:prstGeom prst="roundRect">
            <a:avLst>
              <a:gd fmla="val 16667" name="adj"/>
            </a:avLst>
          </a:prstGeom>
          <a:solidFill>
            <a:srgbClr val="00A1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1e0adecf310_2_193"/>
          <p:cNvSpPr/>
          <p:nvPr/>
        </p:nvSpPr>
        <p:spPr>
          <a:xfrm>
            <a:off x="512826" y="1428750"/>
            <a:ext cx="8174100" cy="762000"/>
          </a:xfrm>
          <a:prstGeom prst="roundRect">
            <a:avLst>
              <a:gd fmla="val 16667" name="adj"/>
            </a:avLst>
          </a:prstGeom>
          <a:solidFill>
            <a:srgbClr val="00A1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8" name="Google Shape;148;g1e0adecf310_2_193"/>
          <p:cNvGrpSpPr/>
          <p:nvPr/>
        </p:nvGrpSpPr>
        <p:grpSpPr>
          <a:xfrm>
            <a:off x="622492" y="1566212"/>
            <a:ext cx="487014" cy="487014"/>
            <a:chOff x="386786" y="1123950"/>
            <a:chExt cx="543300" cy="543300"/>
          </a:xfrm>
        </p:grpSpPr>
        <p:sp>
          <p:nvSpPr>
            <p:cNvPr id="149" name="Google Shape;149;g1e0adecf310_2_193"/>
            <p:cNvSpPr/>
            <p:nvPr/>
          </p:nvSpPr>
          <p:spPr>
            <a:xfrm>
              <a:off x="386786" y="1123950"/>
              <a:ext cx="543300" cy="543300"/>
            </a:xfrm>
            <a:prstGeom prst="ellipse">
              <a:avLst/>
            </a:prstGeom>
            <a:solidFill>
              <a:srgbClr val="00A1D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50" name="Google Shape;150;g1e0adecf310_2_19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06037" y="1243201"/>
              <a:ext cx="304800" cy="304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1" name="Google Shape;151;g1e0adecf310_2_193"/>
          <p:cNvGrpSpPr/>
          <p:nvPr/>
        </p:nvGrpSpPr>
        <p:grpSpPr>
          <a:xfrm>
            <a:off x="616430" y="2556813"/>
            <a:ext cx="487014" cy="487014"/>
            <a:chOff x="1040374" y="1123950"/>
            <a:chExt cx="543300" cy="543300"/>
          </a:xfrm>
        </p:grpSpPr>
        <p:sp>
          <p:nvSpPr>
            <p:cNvPr id="152" name="Google Shape;152;g1e0adecf310_2_193"/>
            <p:cNvSpPr/>
            <p:nvPr/>
          </p:nvSpPr>
          <p:spPr>
            <a:xfrm>
              <a:off x="1040374" y="1123950"/>
              <a:ext cx="543300" cy="543300"/>
            </a:xfrm>
            <a:prstGeom prst="ellipse">
              <a:avLst/>
            </a:prstGeom>
            <a:solidFill>
              <a:srgbClr val="00A1D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53" name="Google Shape;153;g1e0adecf310_2_19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43000" y="1243201"/>
              <a:ext cx="304800" cy="304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4" name="Google Shape;154;g1e0adecf310_2_193"/>
          <p:cNvGrpSpPr/>
          <p:nvPr/>
        </p:nvGrpSpPr>
        <p:grpSpPr>
          <a:xfrm>
            <a:off x="613523" y="3547412"/>
            <a:ext cx="487014" cy="487014"/>
            <a:chOff x="1693962" y="1123950"/>
            <a:chExt cx="543300" cy="543300"/>
          </a:xfrm>
        </p:grpSpPr>
        <p:sp>
          <p:nvSpPr>
            <p:cNvPr id="155" name="Google Shape;155;g1e0adecf310_2_193"/>
            <p:cNvSpPr/>
            <p:nvPr/>
          </p:nvSpPr>
          <p:spPr>
            <a:xfrm>
              <a:off x="1693962" y="1123950"/>
              <a:ext cx="543300" cy="543300"/>
            </a:xfrm>
            <a:prstGeom prst="ellipse">
              <a:avLst/>
            </a:prstGeom>
            <a:solidFill>
              <a:srgbClr val="00A1D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56" name="Google Shape;156;g1e0adecf310_2_19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813213" y="1243201"/>
              <a:ext cx="304800" cy="304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7" name="Google Shape;157;g1e0adecf310_2_193"/>
          <p:cNvSpPr txBox="1"/>
          <p:nvPr/>
        </p:nvSpPr>
        <p:spPr>
          <a:xfrm>
            <a:off x="512826" y="260029"/>
            <a:ext cx="52272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Crecimiento comparativo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8" name="Google Shape;158;g1e0adecf310_2_193"/>
          <p:cNvGrpSpPr/>
          <p:nvPr/>
        </p:nvGrpSpPr>
        <p:grpSpPr>
          <a:xfrm>
            <a:off x="1219200" y="971550"/>
            <a:ext cx="2362200" cy="3657600"/>
            <a:chOff x="1219200" y="971550"/>
            <a:chExt cx="2362200" cy="3657600"/>
          </a:xfrm>
        </p:grpSpPr>
        <p:sp>
          <p:nvSpPr>
            <p:cNvPr id="159" name="Google Shape;159;g1e0adecf310_2_193"/>
            <p:cNvSpPr/>
            <p:nvPr/>
          </p:nvSpPr>
          <p:spPr>
            <a:xfrm>
              <a:off x="1219200" y="971550"/>
              <a:ext cx="2362200" cy="3657600"/>
            </a:xfrm>
            <a:prstGeom prst="roundRect">
              <a:avLst>
                <a:gd fmla="val 6861" name="adj"/>
              </a:avLst>
            </a:prstGeom>
            <a:solidFill>
              <a:srgbClr val="00206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g1e0adecf310_2_193"/>
            <p:cNvSpPr/>
            <p:nvPr/>
          </p:nvSpPr>
          <p:spPr>
            <a:xfrm>
              <a:off x="1363082" y="1123951"/>
              <a:ext cx="2074500" cy="1045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g1e0adecf310_2_193"/>
            <p:cNvSpPr/>
            <p:nvPr/>
          </p:nvSpPr>
          <p:spPr>
            <a:xfrm>
              <a:off x="1363082" y="2288205"/>
              <a:ext cx="2074500" cy="1045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g1e0adecf310_2_193"/>
            <p:cNvSpPr/>
            <p:nvPr/>
          </p:nvSpPr>
          <p:spPr>
            <a:xfrm>
              <a:off x="1363082" y="3460971"/>
              <a:ext cx="2074500" cy="1045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3" name="Google Shape;163;g1e0adecf310_2_193"/>
          <p:cNvSpPr txBox="1"/>
          <p:nvPr/>
        </p:nvSpPr>
        <p:spPr>
          <a:xfrm>
            <a:off x="1431662" y="1200482"/>
            <a:ext cx="19374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Seguidores nuevos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1e0adecf310_2_193"/>
          <p:cNvSpPr txBox="1"/>
          <p:nvPr/>
        </p:nvSpPr>
        <p:spPr>
          <a:xfrm>
            <a:off x="1431662" y="1465526"/>
            <a:ext cx="19374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8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↑</a:t>
            </a:r>
            <a:r>
              <a:rPr b="0" i="0" lang="en" sz="2800" u="none" cap="none" strike="noStrike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37%</a:t>
            </a:r>
            <a:endParaRPr b="0" i="0" sz="2800" u="none" cap="none" strike="noStrike">
              <a:solidFill>
                <a:srgbClr val="00B05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5" name="Google Shape;165;g1e0adecf310_2_193"/>
          <p:cNvSpPr txBox="1"/>
          <p:nvPr/>
        </p:nvSpPr>
        <p:spPr>
          <a:xfrm>
            <a:off x="1431662" y="1889809"/>
            <a:ext cx="19374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Más que el mes anterior</a:t>
            </a:r>
            <a:endParaRPr b="0" i="1" sz="10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1e0adecf310_2_193"/>
          <p:cNvSpPr txBox="1"/>
          <p:nvPr/>
        </p:nvSpPr>
        <p:spPr>
          <a:xfrm>
            <a:off x="1431662" y="2364736"/>
            <a:ext cx="19374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[Métrica clave]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1e0adecf310_2_193"/>
          <p:cNvSpPr txBox="1"/>
          <p:nvPr/>
        </p:nvSpPr>
        <p:spPr>
          <a:xfrm>
            <a:off x="1431662" y="2629780"/>
            <a:ext cx="19374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X%</a:t>
            </a:r>
            <a:endParaRPr b="0" i="0" sz="2800" u="none" cap="none" strike="noStrike">
              <a:solidFill>
                <a:srgbClr val="7F7F7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8" name="Google Shape;168;g1e0adecf310_2_193"/>
          <p:cNvSpPr txBox="1"/>
          <p:nvPr/>
        </p:nvSpPr>
        <p:spPr>
          <a:xfrm>
            <a:off x="1431662" y="3054063"/>
            <a:ext cx="19374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Más que el mes anterior</a:t>
            </a:r>
            <a:endParaRPr b="0" i="1" sz="10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1e0adecf310_2_193"/>
          <p:cNvSpPr txBox="1"/>
          <p:nvPr/>
        </p:nvSpPr>
        <p:spPr>
          <a:xfrm>
            <a:off x="1431662" y="3537502"/>
            <a:ext cx="19374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[Métrica clave]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1e0adecf310_2_193"/>
          <p:cNvSpPr txBox="1"/>
          <p:nvPr/>
        </p:nvSpPr>
        <p:spPr>
          <a:xfrm>
            <a:off x="1431662" y="3802546"/>
            <a:ext cx="19374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X%</a:t>
            </a:r>
            <a:endParaRPr b="0" i="0" sz="2800" u="none" cap="none" strike="noStrike">
              <a:solidFill>
                <a:srgbClr val="7F7F7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71" name="Google Shape;171;g1e0adecf310_2_193"/>
          <p:cNvSpPr txBox="1"/>
          <p:nvPr/>
        </p:nvSpPr>
        <p:spPr>
          <a:xfrm>
            <a:off x="1431662" y="4226829"/>
            <a:ext cx="19374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Más que el mes anterior</a:t>
            </a:r>
            <a:endParaRPr b="0" i="1" sz="10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2" name="Google Shape;172;g1e0adecf310_2_193"/>
          <p:cNvGrpSpPr/>
          <p:nvPr/>
        </p:nvGrpSpPr>
        <p:grpSpPr>
          <a:xfrm>
            <a:off x="6324600" y="971549"/>
            <a:ext cx="2362200" cy="3657600"/>
            <a:chOff x="1219200" y="971550"/>
            <a:chExt cx="2362200" cy="3657600"/>
          </a:xfrm>
        </p:grpSpPr>
        <p:sp>
          <p:nvSpPr>
            <p:cNvPr id="173" name="Google Shape;173;g1e0adecf310_2_193"/>
            <p:cNvSpPr/>
            <p:nvPr/>
          </p:nvSpPr>
          <p:spPr>
            <a:xfrm>
              <a:off x="1219200" y="971550"/>
              <a:ext cx="2362200" cy="3657600"/>
            </a:xfrm>
            <a:prstGeom prst="roundRect">
              <a:avLst>
                <a:gd fmla="val 6861" name="adj"/>
              </a:avLst>
            </a:prstGeom>
            <a:solidFill>
              <a:srgbClr val="00206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g1e0adecf310_2_193"/>
            <p:cNvSpPr/>
            <p:nvPr/>
          </p:nvSpPr>
          <p:spPr>
            <a:xfrm>
              <a:off x="1363082" y="1123951"/>
              <a:ext cx="2074500" cy="1045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g1e0adecf310_2_193"/>
            <p:cNvSpPr/>
            <p:nvPr/>
          </p:nvSpPr>
          <p:spPr>
            <a:xfrm>
              <a:off x="1363082" y="2288205"/>
              <a:ext cx="2074500" cy="1045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g1e0adecf310_2_193"/>
            <p:cNvSpPr/>
            <p:nvPr/>
          </p:nvSpPr>
          <p:spPr>
            <a:xfrm>
              <a:off x="1363082" y="3460971"/>
              <a:ext cx="2074500" cy="1045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" name="Google Shape;177;g1e0adecf310_2_193"/>
          <p:cNvGrpSpPr/>
          <p:nvPr/>
        </p:nvGrpSpPr>
        <p:grpSpPr>
          <a:xfrm>
            <a:off x="3771900" y="967739"/>
            <a:ext cx="2362200" cy="3657600"/>
            <a:chOff x="1219200" y="971550"/>
            <a:chExt cx="2362200" cy="3657600"/>
          </a:xfrm>
        </p:grpSpPr>
        <p:sp>
          <p:nvSpPr>
            <p:cNvPr id="178" name="Google Shape;178;g1e0adecf310_2_193"/>
            <p:cNvSpPr/>
            <p:nvPr/>
          </p:nvSpPr>
          <p:spPr>
            <a:xfrm>
              <a:off x="1219200" y="971550"/>
              <a:ext cx="2362200" cy="3657600"/>
            </a:xfrm>
            <a:prstGeom prst="roundRect">
              <a:avLst>
                <a:gd fmla="val 6861" name="adj"/>
              </a:avLst>
            </a:prstGeom>
            <a:solidFill>
              <a:srgbClr val="00206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g1e0adecf310_2_193"/>
            <p:cNvSpPr/>
            <p:nvPr/>
          </p:nvSpPr>
          <p:spPr>
            <a:xfrm>
              <a:off x="1363082" y="1123951"/>
              <a:ext cx="2074500" cy="1045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g1e0adecf310_2_193"/>
            <p:cNvSpPr/>
            <p:nvPr/>
          </p:nvSpPr>
          <p:spPr>
            <a:xfrm>
              <a:off x="1363082" y="2288205"/>
              <a:ext cx="2074500" cy="1045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g1e0adecf310_2_193"/>
            <p:cNvSpPr/>
            <p:nvPr/>
          </p:nvSpPr>
          <p:spPr>
            <a:xfrm>
              <a:off x="1363082" y="3460971"/>
              <a:ext cx="2074500" cy="1045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2" name="Google Shape;182;g1e0adecf310_2_193"/>
          <p:cNvSpPr txBox="1"/>
          <p:nvPr/>
        </p:nvSpPr>
        <p:spPr>
          <a:xfrm>
            <a:off x="3988349" y="1200482"/>
            <a:ext cx="19374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Interacciones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1e0adecf310_2_193"/>
          <p:cNvSpPr txBox="1"/>
          <p:nvPr/>
        </p:nvSpPr>
        <p:spPr>
          <a:xfrm>
            <a:off x="3988349" y="1465526"/>
            <a:ext cx="19374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r>
              <a:rPr b="0" i="0" lang="en" sz="2800" u="none" cap="none" strike="noStrike">
                <a:solidFill>
                  <a:srgbClr val="CC0000"/>
                </a:solidFill>
                <a:latin typeface="Arial Black"/>
                <a:ea typeface="Arial Black"/>
                <a:cs typeface="Arial Black"/>
                <a:sym typeface="Arial Black"/>
              </a:rPr>
              <a:t>12%</a:t>
            </a:r>
            <a:endParaRPr b="0" i="0" sz="2800" u="none" cap="none" strike="noStrike">
              <a:solidFill>
                <a:srgbClr val="CC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84" name="Google Shape;184;g1e0adecf310_2_193"/>
          <p:cNvSpPr txBox="1"/>
          <p:nvPr/>
        </p:nvSpPr>
        <p:spPr>
          <a:xfrm>
            <a:off x="3988349" y="1889809"/>
            <a:ext cx="19374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Menos que el mes anterior</a:t>
            </a:r>
            <a:endParaRPr b="0" i="1" sz="1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1e0adecf310_2_193"/>
          <p:cNvSpPr txBox="1"/>
          <p:nvPr/>
        </p:nvSpPr>
        <p:spPr>
          <a:xfrm>
            <a:off x="3988349" y="2364736"/>
            <a:ext cx="19374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[Métrica clave]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1e0adecf310_2_193"/>
          <p:cNvSpPr txBox="1"/>
          <p:nvPr/>
        </p:nvSpPr>
        <p:spPr>
          <a:xfrm>
            <a:off x="3988349" y="2629780"/>
            <a:ext cx="19374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X%</a:t>
            </a:r>
            <a:endParaRPr b="0" i="0" sz="2800" u="none" cap="none" strike="noStrike">
              <a:solidFill>
                <a:srgbClr val="7F7F7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87" name="Google Shape;187;g1e0adecf310_2_193"/>
          <p:cNvSpPr txBox="1"/>
          <p:nvPr/>
        </p:nvSpPr>
        <p:spPr>
          <a:xfrm>
            <a:off x="3988349" y="3054063"/>
            <a:ext cx="19374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Más que el mes anterior</a:t>
            </a:r>
            <a:endParaRPr b="0" i="1" sz="10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1e0adecf310_2_193"/>
          <p:cNvSpPr txBox="1"/>
          <p:nvPr/>
        </p:nvSpPr>
        <p:spPr>
          <a:xfrm>
            <a:off x="3988349" y="3537502"/>
            <a:ext cx="19374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[Métrica clave]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1e0adecf310_2_193"/>
          <p:cNvSpPr txBox="1"/>
          <p:nvPr/>
        </p:nvSpPr>
        <p:spPr>
          <a:xfrm>
            <a:off x="3988349" y="3802546"/>
            <a:ext cx="19374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X%</a:t>
            </a:r>
            <a:endParaRPr b="0" i="0" sz="2800" u="none" cap="none" strike="noStrike">
              <a:solidFill>
                <a:srgbClr val="7F7F7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90" name="Google Shape;190;g1e0adecf310_2_193"/>
          <p:cNvSpPr txBox="1"/>
          <p:nvPr/>
        </p:nvSpPr>
        <p:spPr>
          <a:xfrm>
            <a:off x="3988349" y="4226829"/>
            <a:ext cx="19374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Más que el mes anterior</a:t>
            </a:r>
            <a:endParaRPr b="0" i="1" sz="10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1e0adecf310_2_193"/>
          <p:cNvSpPr txBox="1"/>
          <p:nvPr/>
        </p:nvSpPr>
        <p:spPr>
          <a:xfrm>
            <a:off x="6553200" y="1200482"/>
            <a:ext cx="19374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Visitas al sitio web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1e0adecf310_2_193"/>
          <p:cNvSpPr txBox="1"/>
          <p:nvPr/>
        </p:nvSpPr>
        <p:spPr>
          <a:xfrm>
            <a:off x="6553200" y="1465526"/>
            <a:ext cx="19374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8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↑</a:t>
            </a:r>
            <a:r>
              <a:rPr b="0" i="0" lang="en" sz="2800" u="none" cap="none" strike="noStrike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23%</a:t>
            </a:r>
            <a:endParaRPr b="0" i="0" sz="2800" u="none" cap="none" strike="noStrike">
              <a:solidFill>
                <a:srgbClr val="00B05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93" name="Google Shape;193;g1e0adecf310_2_193"/>
          <p:cNvSpPr txBox="1"/>
          <p:nvPr/>
        </p:nvSpPr>
        <p:spPr>
          <a:xfrm>
            <a:off x="6553200" y="1889809"/>
            <a:ext cx="19374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Más que el mes anterior</a:t>
            </a:r>
            <a:endParaRPr b="0" i="1" sz="10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1e0adecf310_2_193"/>
          <p:cNvSpPr txBox="1"/>
          <p:nvPr/>
        </p:nvSpPr>
        <p:spPr>
          <a:xfrm>
            <a:off x="6553200" y="2364736"/>
            <a:ext cx="19374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[Métrica clave]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1e0adecf310_2_193"/>
          <p:cNvSpPr txBox="1"/>
          <p:nvPr/>
        </p:nvSpPr>
        <p:spPr>
          <a:xfrm>
            <a:off x="6553200" y="2629780"/>
            <a:ext cx="19374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X%</a:t>
            </a:r>
            <a:endParaRPr b="0" i="0" sz="2800" u="none" cap="none" strike="noStrike">
              <a:solidFill>
                <a:srgbClr val="7F7F7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96" name="Google Shape;196;g1e0adecf310_2_193"/>
          <p:cNvSpPr txBox="1"/>
          <p:nvPr/>
        </p:nvSpPr>
        <p:spPr>
          <a:xfrm>
            <a:off x="6553200" y="3054063"/>
            <a:ext cx="19374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Más que el mes anterior</a:t>
            </a:r>
            <a:endParaRPr b="0" i="1" sz="10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1e0adecf310_2_193"/>
          <p:cNvSpPr txBox="1"/>
          <p:nvPr/>
        </p:nvSpPr>
        <p:spPr>
          <a:xfrm>
            <a:off x="6553200" y="3537502"/>
            <a:ext cx="19374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[Métrica clave]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1e0adecf310_2_193"/>
          <p:cNvSpPr txBox="1"/>
          <p:nvPr/>
        </p:nvSpPr>
        <p:spPr>
          <a:xfrm>
            <a:off x="6553200" y="3802546"/>
            <a:ext cx="19374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X%</a:t>
            </a:r>
            <a:endParaRPr b="0" i="0" sz="2800" u="none" cap="none" strike="noStrike">
              <a:solidFill>
                <a:srgbClr val="7F7F7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99" name="Google Shape;199;g1e0adecf310_2_193"/>
          <p:cNvSpPr txBox="1"/>
          <p:nvPr/>
        </p:nvSpPr>
        <p:spPr>
          <a:xfrm>
            <a:off x="6553200" y="4226829"/>
            <a:ext cx="19374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Más que el mes anterior</a:t>
            </a:r>
            <a:endParaRPr b="0" i="1" sz="10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1e0adecf310_2_193"/>
          <p:cNvSpPr/>
          <p:nvPr/>
        </p:nvSpPr>
        <p:spPr>
          <a:xfrm>
            <a:off x="5410200" y="3201360"/>
            <a:ext cx="1752900" cy="922200"/>
          </a:xfrm>
          <a:prstGeom prst="wedgeRectCallout">
            <a:avLst>
              <a:gd fmla="val 54802" name="adj1"/>
              <a:gd fmla="val -82455" name="adj2"/>
            </a:avLst>
          </a:prstGeom>
          <a:solidFill>
            <a:srgbClr val="FFFF00"/>
          </a:solidFill>
          <a:ln>
            <a:noFill/>
          </a:ln>
          <a:effectLst>
            <a:outerShdw blurRad="330200" rotWithShape="0" algn="tl" dir="2700000" dist="38100">
              <a:srgbClr val="000000">
                <a:alpha val="1569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Modificá el color para indicar si el porcentaje de crecimiento es positivo (verde) o negativo (rojo)</a:t>
            </a:r>
            <a:endParaRPr b="0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A1DA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e0adecf310_2_291"/>
          <p:cNvSpPr txBox="1"/>
          <p:nvPr>
            <p:ph type="title"/>
          </p:nvPr>
        </p:nvSpPr>
        <p:spPr>
          <a:xfrm>
            <a:off x="434075" y="2105600"/>
            <a:ext cx="71982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4400">
                <a:latin typeface="Arial Black"/>
                <a:ea typeface="Arial Black"/>
                <a:cs typeface="Arial Black"/>
                <a:sym typeface="Arial Black"/>
              </a:rPr>
              <a:t>2. Seguimiento de KPIs</a:t>
            </a:r>
            <a:endParaRPr b="0" sz="44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06" name="Google Shape;206;g1e0adecf310_2_291"/>
          <p:cNvSpPr txBox="1"/>
          <p:nvPr/>
        </p:nvSpPr>
        <p:spPr>
          <a:xfrm>
            <a:off x="371098" y="301314"/>
            <a:ext cx="38199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[Nombre de la empresa]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1e0adecf310_2_291"/>
          <p:cNvSpPr txBox="1"/>
          <p:nvPr/>
        </p:nvSpPr>
        <p:spPr>
          <a:xfrm>
            <a:off x="4953000" y="301314"/>
            <a:ext cx="38199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[Fecha]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1e0adecf310_2_291"/>
          <p:cNvSpPr/>
          <p:nvPr/>
        </p:nvSpPr>
        <p:spPr>
          <a:xfrm>
            <a:off x="0" y="4781550"/>
            <a:ext cx="9144000" cy="362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e0adecf310_2_511"/>
          <p:cNvSpPr txBox="1"/>
          <p:nvPr/>
        </p:nvSpPr>
        <p:spPr>
          <a:xfrm>
            <a:off x="444950" y="364850"/>
            <a:ext cx="43161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Desempeño de Instagram </a:t>
            </a:r>
            <a:endParaRPr b="1" i="0" sz="28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aphicFrame>
        <p:nvGraphicFramePr>
          <p:cNvPr id="214" name="Google Shape;214;g1e0adecf310_2_511"/>
          <p:cNvGraphicFramePr/>
          <p:nvPr/>
        </p:nvGraphicFramePr>
        <p:xfrm>
          <a:off x="560625" y="1977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{56259EF0-57F0-40CD-9772-9BDF4406E2EE}</a:tableStyleId>
              </a:tblPr>
              <a:tblGrid>
                <a:gridCol w="895250"/>
                <a:gridCol w="1215750"/>
                <a:gridCol w="1111525"/>
                <a:gridCol w="1064975"/>
                <a:gridCol w="1078775"/>
              </a:tblGrid>
              <a:tr h="509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%  interacciones por post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Seguidores aumentados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Toques en el sitio web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Cuentas alcanzadas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</a:tr>
              <a:tr h="986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1" lang="en" sz="11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Este mes</a:t>
                      </a:r>
                      <a:endParaRPr b="1" i="1" sz="11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20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20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20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20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2086"/>
                    </a:solidFill>
                  </a:tcPr>
                </a:tc>
              </a:tr>
              <a:tr h="972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1" lang="en" sz="1100" u="none" cap="none" strike="noStrike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Mes pasado</a:t>
                      </a:r>
                      <a:endParaRPr i="1" sz="1100" u="none" cap="none" strike="noStrike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15" name="Google Shape;215;g1e0adecf310_2_511"/>
          <p:cNvSpPr txBox="1"/>
          <p:nvPr/>
        </p:nvSpPr>
        <p:spPr>
          <a:xfrm>
            <a:off x="560625" y="961075"/>
            <a:ext cx="4200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[Rango de fechas]</a:t>
            </a:r>
            <a:endParaRPr b="0" i="0" sz="14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4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[Rango de fechas para comparar]</a:t>
            </a:r>
            <a:endParaRPr b="0" i="1" sz="14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16" name="Google Shape;216;g1e0adecf310_2_511"/>
          <p:cNvSpPr txBox="1"/>
          <p:nvPr/>
        </p:nvSpPr>
        <p:spPr>
          <a:xfrm>
            <a:off x="6137575" y="660575"/>
            <a:ext cx="2787900" cy="3910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Publicación con mejor desempeño</a:t>
            </a:r>
            <a:endParaRPr b="1" i="0" sz="14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2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[inserta la imagen, el enlace al post y métricas de éxito]</a:t>
            </a:r>
            <a:endParaRPr b="0" i="1" sz="12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17" name="Google Shape;217;g1e0adecf310_2_511"/>
          <p:cNvSpPr/>
          <p:nvPr/>
        </p:nvSpPr>
        <p:spPr>
          <a:xfrm>
            <a:off x="152000" y="1678925"/>
            <a:ext cx="1240500" cy="796500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Modificá esta fila según las </a:t>
            </a:r>
            <a:r>
              <a:rPr lang="en" sz="1100">
                <a:solidFill>
                  <a:schemeClr val="lt1"/>
                </a:solidFill>
              </a:rPr>
              <a:t>KPIs del cliente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8" name="Google Shape;218;g1e0adecf310_2_511"/>
          <p:cNvGrpSpPr/>
          <p:nvPr/>
        </p:nvGrpSpPr>
        <p:grpSpPr>
          <a:xfrm>
            <a:off x="7288015" y="364838"/>
            <a:ext cx="487014" cy="487014"/>
            <a:chOff x="386786" y="1123950"/>
            <a:chExt cx="543300" cy="543300"/>
          </a:xfrm>
        </p:grpSpPr>
        <p:sp>
          <p:nvSpPr>
            <p:cNvPr id="219" name="Google Shape;219;g1e0adecf310_2_511"/>
            <p:cNvSpPr/>
            <p:nvPr/>
          </p:nvSpPr>
          <p:spPr>
            <a:xfrm>
              <a:off x="386786" y="1123950"/>
              <a:ext cx="543300" cy="543300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0" name="Google Shape;220;g1e0adecf310_2_5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06037" y="1243201"/>
              <a:ext cx="304800" cy="304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e0adecf310_2_523"/>
          <p:cNvSpPr txBox="1"/>
          <p:nvPr/>
        </p:nvSpPr>
        <p:spPr>
          <a:xfrm>
            <a:off x="444950" y="364850"/>
            <a:ext cx="43161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Desempeño de </a:t>
            </a:r>
            <a:r>
              <a:rPr b="1" lang="en" sz="2800">
                <a:latin typeface="Source Sans Pro"/>
                <a:ea typeface="Source Sans Pro"/>
                <a:cs typeface="Source Sans Pro"/>
                <a:sym typeface="Source Sans Pro"/>
              </a:rPr>
              <a:t>Facebook</a:t>
            </a:r>
            <a:endParaRPr b="1" i="0" sz="28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aphicFrame>
        <p:nvGraphicFramePr>
          <p:cNvPr id="226" name="Google Shape;226;g1e0adecf310_2_523"/>
          <p:cNvGraphicFramePr/>
          <p:nvPr/>
        </p:nvGraphicFramePr>
        <p:xfrm>
          <a:off x="560625" y="1977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{56259EF0-57F0-40CD-9772-9BDF4406E2EE}</a:tableStyleId>
              </a:tblPr>
              <a:tblGrid>
                <a:gridCol w="895250"/>
                <a:gridCol w="1215750"/>
                <a:gridCol w="1111525"/>
                <a:gridCol w="1064975"/>
                <a:gridCol w="1078775"/>
              </a:tblGrid>
              <a:tr h="509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%  interacciones por post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Seguidores aumentados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Toques en el sitio web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Cuentas alcanzadas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</a:tr>
              <a:tr h="986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1" lang="en" sz="11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Este mes</a:t>
                      </a:r>
                      <a:endParaRPr b="1" i="1" sz="11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</a:tr>
              <a:tr h="972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1" lang="en" sz="1100" u="none" cap="none" strike="noStrike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Mes pasado</a:t>
                      </a:r>
                      <a:endParaRPr i="1" sz="1100" u="none" cap="none" strike="noStrike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27" name="Google Shape;227;g1e0adecf310_2_523"/>
          <p:cNvSpPr txBox="1"/>
          <p:nvPr/>
        </p:nvSpPr>
        <p:spPr>
          <a:xfrm>
            <a:off x="560625" y="961075"/>
            <a:ext cx="4200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[Rango de fechas]</a:t>
            </a:r>
            <a:endParaRPr b="0" i="0" sz="14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4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[Rango de fechas para comparar]</a:t>
            </a:r>
            <a:endParaRPr b="0" i="1" sz="14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28" name="Google Shape;228;g1e0adecf310_2_523"/>
          <p:cNvSpPr txBox="1"/>
          <p:nvPr/>
        </p:nvSpPr>
        <p:spPr>
          <a:xfrm>
            <a:off x="6137575" y="660575"/>
            <a:ext cx="2787900" cy="3910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Publicación con mejor desempeño</a:t>
            </a:r>
            <a:endParaRPr b="1" i="0" sz="14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2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[inserta la imagen, el enlace al post y métricas de éxito]</a:t>
            </a:r>
            <a:endParaRPr b="0" i="1" sz="12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229" name="Google Shape;229;g1e0adecf310_2_523"/>
          <p:cNvGrpSpPr/>
          <p:nvPr/>
        </p:nvGrpSpPr>
        <p:grpSpPr>
          <a:xfrm>
            <a:off x="7288018" y="364849"/>
            <a:ext cx="487014" cy="487014"/>
            <a:chOff x="1040374" y="1123950"/>
            <a:chExt cx="543300" cy="543300"/>
          </a:xfrm>
        </p:grpSpPr>
        <p:sp>
          <p:nvSpPr>
            <p:cNvPr id="230" name="Google Shape;230;g1e0adecf310_2_523"/>
            <p:cNvSpPr/>
            <p:nvPr/>
          </p:nvSpPr>
          <p:spPr>
            <a:xfrm>
              <a:off x="1040374" y="1123950"/>
              <a:ext cx="543300" cy="543300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31" name="Google Shape;231;g1e0adecf310_2_5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43000" y="1243201"/>
              <a:ext cx="304800" cy="304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e0adecf310_2_537"/>
          <p:cNvSpPr txBox="1"/>
          <p:nvPr/>
        </p:nvSpPr>
        <p:spPr>
          <a:xfrm>
            <a:off x="444950" y="364850"/>
            <a:ext cx="43161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Desempeño de </a:t>
            </a:r>
            <a:r>
              <a:rPr b="1" lang="en" sz="2800">
                <a:latin typeface="Source Sans Pro"/>
                <a:ea typeface="Source Sans Pro"/>
                <a:cs typeface="Source Sans Pro"/>
                <a:sym typeface="Source Sans Pro"/>
              </a:rPr>
              <a:t>TikTok</a:t>
            </a:r>
            <a:endParaRPr b="1" i="0" sz="28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aphicFrame>
        <p:nvGraphicFramePr>
          <p:cNvPr id="237" name="Google Shape;237;g1e0adecf310_2_537"/>
          <p:cNvGraphicFramePr/>
          <p:nvPr/>
        </p:nvGraphicFramePr>
        <p:xfrm>
          <a:off x="560625" y="1977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{56259EF0-57F0-40CD-9772-9BDF4406E2EE}</a:tableStyleId>
              </a:tblPr>
              <a:tblGrid>
                <a:gridCol w="895250"/>
                <a:gridCol w="1215750"/>
                <a:gridCol w="1111525"/>
                <a:gridCol w="1064975"/>
                <a:gridCol w="1078775"/>
              </a:tblGrid>
              <a:tr h="509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%  interacciones por post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Seguidores aumentados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Views promedio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Cuentas alcanzadas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</a:tr>
              <a:tr h="986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1" lang="en" sz="11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Este mes</a:t>
                      </a:r>
                      <a:endParaRPr b="1" i="1" sz="11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</a:tr>
              <a:tr h="972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1" lang="en" sz="1100" u="none" cap="none" strike="noStrike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Mes pasado</a:t>
                      </a:r>
                      <a:endParaRPr i="1" sz="1100" u="none" cap="none" strike="noStrike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38" name="Google Shape;238;g1e0adecf310_2_537"/>
          <p:cNvSpPr txBox="1"/>
          <p:nvPr/>
        </p:nvSpPr>
        <p:spPr>
          <a:xfrm>
            <a:off x="560625" y="961075"/>
            <a:ext cx="4200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[Rango de fechas]</a:t>
            </a:r>
            <a:endParaRPr b="0" i="0" sz="14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4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[Rango de fechas para comparar]</a:t>
            </a:r>
            <a:endParaRPr b="0" i="1" sz="14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39" name="Google Shape;239;g1e0adecf310_2_537"/>
          <p:cNvSpPr txBox="1"/>
          <p:nvPr/>
        </p:nvSpPr>
        <p:spPr>
          <a:xfrm>
            <a:off x="6137575" y="660575"/>
            <a:ext cx="2787900" cy="3910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Publicación con mejor desempeño</a:t>
            </a:r>
            <a:endParaRPr b="1" i="0" sz="14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2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[inserta la imagen, el enlace al post y métricas de éxito]</a:t>
            </a:r>
            <a:endParaRPr b="0" i="1" sz="12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40" name="Google Shape;240;g1e0adecf310_2_537"/>
          <p:cNvSpPr/>
          <p:nvPr/>
        </p:nvSpPr>
        <p:spPr>
          <a:xfrm>
            <a:off x="7288018" y="364849"/>
            <a:ext cx="487014" cy="48701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g1e0adecf310_2_5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9113" y="455964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1e0adecf310_2_548"/>
          <p:cNvSpPr txBox="1"/>
          <p:nvPr/>
        </p:nvSpPr>
        <p:spPr>
          <a:xfrm>
            <a:off x="444950" y="364850"/>
            <a:ext cx="43161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Desempeño de </a:t>
            </a:r>
            <a:r>
              <a:rPr b="1" lang="en" sz="2800">
                <a:latin typeface="Source Sans Pro"/>
                <a:ea typeface="Source Sans Pro"/>
                <a:cs typeface="Source Sans Pro"/>
                <a:sym typeface="Source Sans Pro"/>
              </a:rPr>
              <a:t>Twitter</a:t>
            </a:r>
            <a:endParaRPr b="1" i="0" sz="28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aphicFrame>
        <p:nvGraphicFramePr>
          <p:cNvPr id="247" name="Google Shape;247;g1e0adecf310_2_548"/>
          <p:cNvGraphicFramePr/>
          <p:nvPr/>
        </p:nvGraphicFramePr>
        <p:xfrm>
          <a:off x="560625" y="1977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{56259EF0-57F0-40CD-9772-9BDF4406E2EE}</a:tableStyleId>
              </a:tblPr>
              <a:tblGrid>
                <a:gridCol w="895250"/>
                <a:gridCol w="1215750"/>
                <a:gridCol w="1111525"/>
                <a:gridCol w="1064975"/>
                <a:gridCol w="1078775"/>
              </a:tblGrid>
              <a:tr h="509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%  </a:t>
                      </a:r>
                      <a:r>
                        <a:rPr b="1" lang="en" sz="11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retweet por publicación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Seguidores aumentados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% respuestas por tweet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Cuentas alcanzadas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</a:tr>
              <a:tr h="986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1" lang="en" sz="11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Este mes</a:t>
                      </a:r>
                      <a:endParaRPr b="1" i="1" sz="11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A1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A1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A1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A1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A1DA"/>
                    </a:solidFill>
                  </a:tcPr>
                </a:tc>
              </a:tr>
              <a:tr h="972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1" lang="en" sz="1100" u="none" cap="none" strike="noStrike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Mes pasado</a:t>
                      </a:r>
                      <a:endParaRPr i="1" sz="1100" u="none" cap="none" strike="noStrike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48" name="Google Shape;248;g1e0adecf310_2_548"/>
          <p:cNvSpPr txBox="1"/>
          <p:nvPr/>
        </p:nvSpPr>
        <p:spPr>
          <a:xfrm>
            <a:off x="560625" y="961075"/>
            <a:ext cx="4200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[Rango de fechas]</a:t>
            </a:r>
            <a:endParaRPr b="0" i="0" sz="14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4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[Rango de fechas para comparar]</a:t>
            </a:r>
            <a:endParaRPr b="0" i="1" sz="14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49" name="Google Shape;249;g1e0adecf310_2_548"/>
          <p:cNvSpPr txBox="1"/>
          <p:nvPr/>
        </p:nvSpPr>
        <p:spPr>
          <a:xfrm>
            <a:off x="6137575" y="660575"/>
            <a:ext cx="2787900" cy="3910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Publicación con mejor desempeño</a:t>
            </a:r>
            <a:endParaRPr b="1" i="0" sz="14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2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[inserta la imagen, el enlace al post y métricas de éxito]</a:t>
            </a:r>
            <a:endParaRPr b="0" i="1" sz="12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50" name="Google Shape;250;g1e0adecf310_2_548"/>
          <p:cNvSpPr/>
          <p:nvPr/>
        </p:nvSpPr>
        <p:spPr>
          <a:xfrm>
            <a:off x="7288018" y="364849"/>
            <a:ext cx="486900" cy="4869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" name="Google Shape;251;g1e0adecf310_2_5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7375" y="484150"/>
            <a:ext cx="248300" cy="24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A1DA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e0adecf310_2_406"/>
          <p:cNvSpPr txBox="1"/>
          <p:nvPr>
            <p:ph type="title"/>
          </p:nvPr>
        </p:nvSpPr>
        <p:spPr>
          <a:xfrm>
            <a:off x="694950" y="1809750"/>
            <a:ext cx="7153500" cy="13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4400">
                <a:latin typeface="Arial Black"/>
                <a:ea typeface="Arial Black"/>
                <a:cs typeface="Arial Black"/>
                <a:sym typeface="Arial Black"/>
              </a:rPr>
              <a:t>3. </a:t>
            </a:r>
            <a:r>
              <a:rPr b="0" lang="en" sz="4400">
                <a:latin typeface="Arial Black"/>
                <a:ea typeface="Arial Black"/>
                <a:cs typeface="Arial Black"/>
                <a:sym typeface="Arial Black"/>
              </a:rPr>
              <a:t>Publicaciones destacadas</a:t>
            </a:r>
            <a:endParaRPr b="0" sz="44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57" name="Google Shape;257;g1e0adecf310_2_406"/>
          <p:cNvSpPr/>
          <p:nvPr/>
        </p:nvSpPr>
        <p:spPr>
          <a:xfrm>
            <a:off x="0" y="4781550"/>
            <a:ext cx="9144000" cy="362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1e0adecf310_2_406"/>
          <p:cNvSpPr txBox="1"/>
          <p:nvPr/>
        </p:nvSpPr>
        <p:spPr>
          <a:xfrm>
            <a:off x="371098" y="301314"/>
            <a:ext cx="38199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[Nombre de la empresa]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1e0adecf310_2_406"/>
          <p:cNvSpPr txBox="1"/>
          <p:nvPr/>
        </p:nvSpPr>
        <p:spPr>
          <a:xfrm>
            <a:off x="4953000" y="301314"/>
            <a:ext cx="38199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[Fecha]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e0adecf310_2_413"/>
          <p:cNvSpPr txBox="1"/>
          <p:nvPr/>
        </p:nvSpPr>
        <p:spPr>
          <a:xfrm>
            <a:off x="990600" y="254336"/>
            <a:ext cx="47496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 posts en Instagram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1e0adecf310_2_413"/>
          <p:cNvSpPr/>
          <p:nvPr/>
        </p:nvSpPr>
        <p:spPr>
          <a:xfrm>
            <a:off x="5273040" y="254901"/>
            <a:ext cx="3489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 publicaciones con mejor rendimiento son: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6" name="Google Shape;266;g1e0adecf310_2_413"/>
          <p:cNvCxnSpPr/>
          <p:nvPr/>
        </p:nvCxnSpPr>
        <p:spPr>
          <a:xfrm>
            <a:off x="512826" y="666750"/>
            <a:ext cx="8250300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67" name="Google Shape;267;g1e0adecf310_2_413"/>
          <p:cNvGraphicFramePr/>
          <p:nvPr/>
        </p:nvGraphicFramePr>
        <p:xfrm>
          <a:off x="512826" y="8191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{49267E81-CFB1-4B05-8764-552D1EE78C75}</a:tableStyleId>
              </a:tblPr>
              <a:tblGrid>
                <a:gridCol w="2306575"/>
                <a:gridCol w="990600"/>
                <a:gridCol w="1066800"/>
                <a:gridCol w="1219200"/>
                <a:gridCol w="1447800"/>
                <a:gridCol w="1219200"/>
              </a:tblGrid>
              <a:tr h="333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Multimedia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Fecha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Formato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Interacciones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Visitas al sitio web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Seguimientos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solidFill>
                      <a:srgbClr val="002060"/>
                    </a:solidFill>
                  </a:tcPr>
                </a:tc>
              </a:tr>
              <a:tr h="1133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 u="none" cap="none" strike="noStrike"/>
                        <a:t>01 dic.</a:t>
                      </a:r>
                      <a:endParaRPr i="1" sz="12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 u="none" cap="none" strike="noStrike"/>
                        <a:t>Reel</a:t>
                      </a:r>
                      <a:endParaRPr i="1" sz="12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</a:rPr>
                        <a:t>8560</a:t>
                      </a:r>
                      <a:endParaRPr b="1"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</a:rPr>
                        <a:t>480</a:t>
                      </a:r>
                      <a:endParaRPr b="1"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EC20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</a:rPr>
                        <a:t>300</a:t>
                      </a:r>
                      <a:endParaRPr b="1"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9933"/>
                    </a:solidFill>
                  </a:tcPr>
                </a:tc>
              </a:tr>
              <a:tr h="1133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[insertar imagen]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 u="none" cap="none" strike="noStrike"/>
                        <a:t>XXX</a:t>
                      </a:r>
                      <a:endParaRPr i="1" sz="12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 u="none" cap="none" strike="noStrike"/>
                        <a:t>XXX</a:t>
                      </a:r>
                      <a:endParaRPr i="1" sz="12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</a:rPr>
                        <a:t>XXX</a:t>
                      </a:r>
                      <a:endParaRPr b="1"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</a:rPr>
                        <a:t>XXX</a:t>
                      </a:r>
                      <a:endParaRPr b="1"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EC20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</a:rPr>
                        <a:t>XXX</a:t>
                      </a:r>
                      <a:endParaRPr b="1"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9933"/>
                    </a:solidFill>
                  </a:tcPr>
                </a:tc>
              </a:tr>
              <a:tr h="1133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/>
                        <a:t>[insertar imagen]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 u="none" cap="none" strike="noStrike"/>
                        <a:t>XXX</a:t>
                      </a:r>
                      <a:endParaRPr i="1" sz="12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 u="none" cap="none" strike="noStrike"/>
                        <a:t>XXX</a:t>
                      </a:r>
                      <a:endParaRPr i="1" sz="12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</a:rPr>
                        <a:t>XXX</a:t>
                      </a:r>
                      <a:endParaRPr b="1"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</a:rPr>
                        <a:t>XXX</a:t>
                      </a:r>
                      <a:endParaRPr b="1"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EC20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</a:rPr>
                        <a:t>XXX</a:t>
                      </a:r>
                      <a:endParaRPr b="1"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9933"/>
                    </a:solidFill>
                  </a:tcPr>
                </a:tc>
              </a:tr>
            </a:tbl>
          </a:graphicData>
        </a:graphic>
      </p:graphicFrame>
      <p:pic>
        <p:nvPicPr>
          <p:cNvPr id="268" name="Google Shape;268;g1e0adecf310_2_4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1266399"/>
            <a:ext cx="903249" cy="9243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g1e0adecf310_2_413"/>
          <p:cNvGrpSpPr/>
          <p:nvPr/>
        </p:nvGrpSpPr>
        <p:grpSpPr>
          <a:xfrm>
            <a:off x="522353" y="209556"/>
            <a:ext cx="374008" cy="374008"/>
            <a:chOff x="386786" y="1123950"/>
            <a:chExt cx="543300" cy="543300"/>
          </a:xfrm>
        </p:grpSpPr>
        <p:sp>
          <p:nvSpPr>
            <p:cNvPr id="270" name="Google Shape;270;g1e0adecf310_2_413"/>
            <p:cNvSpPr/>
            <p:nvPr/>
          </p:nvSpPr>
          <p:spPr>
            <a:xfrm>
              <a:off x="386786" y="1123950"/>
              <a:ext cx="543300" cy="543300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71" name="Google Shape;271;g1e0adecf310_2_4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06037" y="1243201"/>
              <a:ext cx="304800" cy="304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2" name="Google Shape;272;g1e0adecf310_2_413"/>
          <p:cNvSpPr/>
          <p:nvPr/>
        </p:nvSpPr>
        <p:spPr>
          <a:xfrm>
            <a:off x="5740146" y="2343150"/>
            <a:ext cx="1600200" cy="838200"/>
          </a:xfrm>
          <a:prstGeom prst="wedgeRectCallout">
            <a:avLst>
              <a:gd fmla="val -47925" name="adj1"/>
              <a:gd fmla="val -199246" name="adj2"/>
            </a:avLst>
          </a:prstGeom>
          <a:solidFill>
            <a:srgbClr val="FFFF00"/>
          </a:solidFill>
          <a:ln>
            <a:noFill/>
          </a:ln>
          <a:effectLst>
            <a:outerShdw blurRad="330200" rotWithShape="0" algn="tl" dir="2700000" dist="38100">
              <a:srgbClr val="000000">
                <a:alpha val="1569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Reemplazá estas columnas por tus propias métricas clave</a:t>
            </a:r>
            <a:endParaRPr b="0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e0adecf310_2_425"/>
          <p:cNvSpPr txBox="1"/>
          <p:nvPr/>
        </p:nvSpPr>
        <p:spPr>
          <a:xfrm>
            <a:off x="990600" y="254336"/>
            <a:ext cx="47496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 posts en Facebook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1e0adecf310_2_425"/>
          <p:cNvSpPr/>
          <p:nvPr/>
        </p:nvSpPr>
        <p:spPr>
          <a:xfrm>
            <a:off x="5273040" y="254901"/>
            <a:ext cx="3489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 publicaciones con mejor rendimiento son: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9" name="Google Shape;279;g1e0adecf310_2_425"/>
          <p:cNvCxnSpPr/>
          <p:nvPr/>
        </p:nvCxnSpPr>
        <p:spPr>
          <a:xfrm>
            <a:off x="512826" y="666750"/>
            <a:ext cx="8250300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80" name="Google Shape;280;g1e0adecf310_2_425"/>
          <p:cNvGraphicFramePr/>
          <p:nvPr/>
        </p:nvGraphicFramePr>
        <p:xfrm>
          <a:off x="512826" y="8191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{49267E81-CFB1-4B05-8764-552D1EE78C75}</a:tableStyleId>
              </a:tblPr>
              <a:tblGrid>
                <a:gridCol w="2306575"/>
                <a:gridCol w="990600"/>
                <a:gridCol w="1066800"/>
                <a:gridCol w="1219200"/>
                <a:gridCol w="1447800"/>
                <a:gridCol w="1219200"/>
              </a:tblGrid>
              <a:tr h="333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Multimedia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Fecha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Formato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Interacciones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Visitas al sitio web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Seguimientos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solidFill>
                      <a:srgbClr val="002060"/>
                    </a:solidFill>
                  </a:tcPr>
                </a:tc>
              </a:tr>
              <a:tr h="1133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/>
                        <a:t>[insertar imagen]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 u="none" cap="none" strike="noStrike"/>
                        <a:t>XXX</a:t>
                      </a:r>
                      <a:endParaRPr i="1" sz="12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 u="none" cap="none" strike="noStrike"/>
                        <a:t>XXX</a:t>
                      </a:r>
                      <a:endParaRPr i="1" sz="12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</a:rPr>
                        <a:t>XXX</a:t>
                      </a:r>
                      <a:endParaRPr b="1"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</a:rPr>
                        <a:t>XXX</a:t>
                      </a:r>
                      <a:endParaRPr b="1"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EC20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</a:rPr>
                        <a:t>XXX</a:t>
                      </a:r>
                      <a:endParaRPr b="1"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9933"/>
                    </a:solidFill>
                  </a:tcPr>
                </a:tc>
              </a:tr>
              <a:tr h="1133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[insertar imagen]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 u="none" cap="none" strike="noStrike"/>
                        <a:t>XXX</a:t>
                      </a:r>
                      <a:endParaRPr i="1" sz="12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 u="none" cap="none" strike="noStrike"/>
                        <a:t>XXX</a:t>
                      </a:r>
                      <a:endParaRPr i="1" sz="12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</a:rPr>
                        <a:t>XXX</a:t>
                      </a:r>
                      <a:endParaRPr b="1"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</a:rPr>
                        <a:t>XXX</a:t>
                      </a:r>
                      <a:endParaRPr b="1"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EC20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</a:rPr>
                        <a:t>XXX</a:t>
                      </a:r>
                      <a:endParaRPr b="1"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9933"/>
                    </a:solidFill>
                  </a:tcPr>
                </a:tc>
              </a:tr>
              <a:tr h="1133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/>
                        <a:t>[insertar imagen]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 u="none" cap="none" strike="noStrike"/>
                        <a:t>XXX</a:t>
                      </a:r>
                      <a:endParaRPr i="1" sz="12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 u="none" cap="none" strike="noStrike"/>
                        <a:t>XXX</a:t>
                      </a:r>
                      <a:endParaRPr i="1" sz="12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</a:rPr>
                        <a:t>XXX</a:t>
                      </a:r>
                      <a:endParaRPr b="1"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</a:rPr>
                        <a:t>XXX</a:t>
                      </a:r>
                      <a:endParaRPr b="1"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EC20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</a:rPr>
                        <a:t>XXX</a:t>
                      </a:r>
                      <a:endParaRPr b="1"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9933"/>
                    </a:solidFill>
                  </a:tcPr>
                </a:tc>
              </a:tr>
            </a:tbl>
          </a:graphicData>
        </a:graphic>
      </p:graphicFrame>
      <p:grpSp>
        <p:nvGrpSpPr>
          <p:cNvPr id="281" name="Google Shape;281;g1e0adecf310_2_425"/>
          <p:cNvGrpSpPr/>
          <p:nvPr/>
        </p:nvGrpSpPr>
        <p:grpSpPr>
          <a:xfrm>
            <a:off x="522351" y="209550"/>
            <a:ext cx="374100" cy="374100"/>
            <a:chOff x="522351" y="209550"/>
            <a:chExt cx="374100" cy="374100"/>
          </a:xfrm>
        </p:grpSpPr>
        <p:sp>
          <p:nvSpPr>
            <p:cNvPr id="282" name="Google Shape;282;g1e0adecf310_2_425"/>
            <p:cNvSpPr/>
            <p:nvPr/>
          </p:nvSpPr>
          <p:spPr>
            <a:xfrm>
              <a:off x="522351" y="209550"/>
              <a:ext cx="374100" cy="374100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3" name="Google Shape;283;g1e0adecf310_2_425"/>
            <p:cNvPicPr preferRelativeResize="0"/>
            <p:nvPr/>
          </p:nvPicPr>
          <p:blipFill rotWithShape="1">
            <a:blip r:embed="rId3">
              <a:alphaModFix/>
            </a:blip>
            <a:srcRect b="0" l="26147" r="11833" t="0"/>
            <a:stretch/>
          </p:blipFill>
          <p:spPr>
            <a:xfrm>
              <a:off x="644291" y="291641"/>
              <a:ext cx="130126" cy="2098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e0adecf310_2_435"/>
          <p:cNvSpPr txBox="1"/>
          <p:nvPr/>
        </p:nvSpPr>
        <p:spPr>
          <a:xfrm>
            <a:off x="990600" y="254336"/>
            <a:ext cx="47496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 posts en TikTok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1e0adecf310_2_435"/>
          <p:cNvSpPr/>
          <p:nvPr/>
        </p:nvSpPr>
        <p:spPr>
          <a:xfrm>
            <a:off x="5273040" y="254901"/>
            <a:ext cx="3489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 publicaciones con mejor rendimiento son: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0" name="Google Shape;290;g1e0adecf310_2_435"/>
          <p:cNvCxnSpPr/>
          <p:nvPr/>
        </p:nvCxnSpPr>
        <p:spPr>
          <a:xfrm>
            <a:off x="512826" y="666750"/>
            <a:ext cx="8250300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91" name="Google Shape;291;g1e0adecf310_2_435"/>
          <p:cNvGraphicFramePr/>
          <p:nvPr/>
        </p:nvGraphicFramePr>
        <p:xfrm>
          <a:off x="512826" y="8191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{49267E81-CFB1-4B05-8764-552D1EE78C75}</a:tableStyleId>
              </a:tblPr>
              <a:tblGrid>
                <a:gridCol w="2154175"/>
                <a:gridCol w="990600"/>
                <a:gridCol w="1219200"/>
                <a:gridCol w="1219200"/>
                <a:gridCol w="1447800"/>
                <a:gridCol w="1219200"/>
              </a:tblGrid>
              <a:tr h="333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Multimedia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Fecha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Visualizaciones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Interacciones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Visitas al sitio web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Seguimientos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solidFill>
                      <a:srgbClr val="002060"/>
                    </a:solidFill>
                  </a:tcPr>
                </a:tc>
              </a:tr>
              <a:tr h="1133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/>
                        <a:t>[insertar imagen]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 u="none" cap="none" strike="noStrike"/>
                        <a:t>XXX</a:t>
                      </a:r>
                      <a:endParaRPr i="1" sz="12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200" u="none" cap="none" strike="noStrike">
                          <a:solidFill>
                            <a:schemeClr val="lt1"/>
                          </a:solidFill>
                        </a:rPr>
                        <a:t>XXX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</a:rPr>
                        <a:t>XXX</a:t>
                      </a:r>
                      <a:endParaRPr b="1"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</a:rPr>
                        <a:t>XXX</a:t>
                      </a:r>
                      <a:endParaRPr b="1"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EC20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</a:rPr>
                        <a:t>XXX</a:t>
                      </a:r>
                      <a:endParaRPr b="1"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9933"/>
                    </a:solidFill>
                  </a:tcPr>
                </a:tc>
              </a:tr>
              <a:tr h="1133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[insertar imagen]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 u="none" cap="none" strike="noStrike"/>
                        <a:t>XXX</a:t>
                      </a:r>
                      <a:endParaRPr i="1" sz="12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200" u="none" cap="none" strike="noStrike">
                          <a:solidFill>
                            <a:schemeClr val="lt1"/>
                          </a:solidFill>
                        </a:rPr>
                        <a:t>XXX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</a:rPr>
                        <a:t>XXX</a:t>
                      </a:r>
                      <a:endParaRPr b="1"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</a:rPr>
                        <a:t>XXX</a:t>
                      </a:r>
                      <a:endParaRPr b="1"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EC20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</a:rPr>
                        <a:t>XXX</a:t>
                      </a:r>
                      <a:endParaRPr b="1"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9933"/>
                    </a:solidFill>
                  </a:tcPr>
                </a:tc>
              </a:tr>
              <a:tr h="1133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/>
                        <a:t>[insertar imagen]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 u="none" cap="none" strike="noStrike"/>
                        <a:t>XXX</a:t>
                      </a:r>
                      <a:endParaRPr i="1" sz="12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200" u="none" cap="none" strike="noStrike">
                          <a:solidFill>
                            <a:schemeClr val="lt1"/>
                          </a:solidFill>
                        </a:rPr>
                        <a:t>XXX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</a:rPr>
                        <a:t>XXX</a:t>
                      </a:r>
                      <a:endParaRPr b="1"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</a:rPr>
                        <a:t>XXX</a:t>
                      </a:r>
                      <a:endParaRPr b="1"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EC20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</a:rPr>
                        <a:t>XXX</a:t>
                      </a:r>
                      <a:endParaRPr b="1"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9933"/>
                    </a:solidFill>
                  </a:tcPr>
                </a:tc>
              </a:tr>
            </a:tbl>
          </a:graphicData>
        </a:graphic>
      </p:graphicFrame>
      <p:grpSp>
        <p:nvGrpSpPr>
          <p:cNvPr id="292" name="Google Shape;292;g1e0adecf310_2_435"/>
          <p:cNvGrpSpPr/>
          <p:nvPr/>
        </p:nvGrpSpPr>
        <p:grpSpPr>
          <a:xfrm>
            <a:off x="522351" y="209550"/>
            <a:ext cx="374100" cy="374100"/>
            <a:chOff x="522351" y="209550"/>
            <a:chExt cx="374100" cy="374100"/>
          </a:xfrm>
        </p:grpSpPr>
        <p:sp>
          <p:nvSpPr>
            <p:cNvPr id="293" name="Google Shape;293;g1e0adecf310_2_435"/>
            <p:cNvSpPr/>
            <p:nvPr/>
          </p:nvSpPr>
          <p:spPr>
            <a:xfrm>
              <a:off x="522351" y="209550"/>
              <a:ext cx="374100" cy="374100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94" name="Google Shape;294;g1e0adecf310_2_4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09600" y="278946"/>
              <a:ext cx="209823" cy="2098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A1DA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1e0adecf310_2_445"/>
          <p:cNvSpPr txBox="1"/>
          <p:nvPr>
            <p:ph type="title"/>
          </p:nvPr>
        </p:nvSpPr>
        <p:spPr>
          <a:xfrm>
            <a:off x="371098" y="2114550"/>
            <a:ext cx="74775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latin typeface="Arial Black"/>
                <a:ea typeface="Arial Black"/>
                <a:cs typeface="Arial Black"/>
                <a:sym typeface="Arial Black"/>
              </a:rPr>
              <a:t>4</a:t>
            </a:r>
            <a:r>
              <a:rPr lang="en" sz="4400">
                <a:latin typeface="Arial Black"/>
                <a:ea typeface="Arial Black"/>
                <a:cs typeface="Arial Black"/>
                <a:sym typeface="Arial Black"/>
              </a:rPr>
              <a:t>. Conclusiones</a:t>
            </a:r>
            <a:endParaRPr sz="44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00" name="Google Shape;300;g1e0adecf310_2_445"/>
          <p:cNvSpPr/>
          <p:nvPr/>
        </p:nvSpPr>
        <p:spPr>
          <a:xfrm>
            <a:off x="0" y="4781550"/>
            <a:ext cx="9144000" cy="362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1e0adecf310_2_445"/>
          <p:cNvSpPr txBox="1"/>
          <p:nvPr/>
        </p:nvSpPr>
        <p:spPr>
          <a:xfrm>
            <a:off x="371098" y="301314"/>
            <a:ext cx="38199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[Nombre de la empresa]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1e0adecf310_2_445"/>
          <p:cNvSpPr txBox="1"/>
          <p:nvPr/>
        </p:nvSpPr>
        <p:spPr>
          <a:xfrm>
            <a:off x="4953000" y="301314"/>
            <a:ext cx="38199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[Fecha]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" name="Google Shape;307;g1e0adecf310_2_452"/>
          <p:cNvGrpSpPr/>
          <p:nvPr/>
        </p:nvGrpSpPr>
        <p:grpSpPr>
          <a:xfrm>
            <a:off x="4780026" y="975628"/>
            <a:ext cx="3983100" cy="3577322"/>
            <a:chOff x="4780026" y="975628"/>
            <a:chExt cx="3983100" cy="3577322"/>
          </a:xfrm>
        </p:grpSpPr>
        <p:sp>
          <p:nvSpPr>
            <p:cNvPr id="308" name="Google Shape;308;g1e0adecf310_2_452"/>
            <p:cNvSpPr/>
            <p:nvPr/>
          </p:nvSpPr>
          <p:spPr>
            <a:xfrm>
              <a:off x="4780026" y="1200150"/>
              <a:ext cx="3983100" cy="3352800"/>
            </a:xfrm>
            <a:prstGeom prst="roundRect">
              <a:avLst>
                <a:gd fmla="val 3772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g1e0adecf310_2_452"/>
            <p:cNvSpPr/>
            <p:nvPr/>
          </p:nvSpPr>
          <p:spPr>
            <a:xfrm>
              <a:off x="4780026" y="975628"/>
              <a:ext cx="3983100" cy="613800"/>
            </a:xfrm>
            <a:prstGeom prst="roundRect">
              <a:avLst>
                <a:gd fmla="val 50000" name="adj"/>
              </a:avLst>
            </a:prstGeom>
            <a:solidFill>
              <a:srgbClr val="00A1D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Acciones para el futuro</a:t>
              </a:r>
              <a:endParaRPr/>
            </a:p>
          </p:txBody>
        </p:sp>
        <p:sp>
          <p:nvSpPr>
            <p:cNvPr id="310" name="Google Shape;310;g1e0adecf310_2_452"/>
            <p:cNvSpPr/>
            <p:nvPr/>
          </p:nvSpPr>
          <p:spPr>
            <a:xfrm>
              <a:off x="4975120" y="1657350"/>
              <a:ext cx="3592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1270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2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¿Cómo reestructuraremos nuestra estrategia? ¿Cómo mejoraremos resultados?</a:t>
              </a:r>
              <a:endParaRPr b="1" i="1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1" name="Google Shape;311;g1e0adecf310_2_452"/>
          <p:cNvSpPr txBox="1"/>
          <p:nvPr/>
        </p:nvSpPr>
        <p:spPr>
          <a:xfrm>
            <a:off x="512826" y="254336"/>
            <a:ext cx="52272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Conclusiones finales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2" name="Google Shape;312;g1e0adecf310_2_452"/>
          <p:cNvCxnSpPr/>
          <p:nvPr/>
        </p:nvCxnSpPr>
        <p:spPr>
          <a:xfrm>
            <a:off x="512826" y="666750"/>
            <a:ext cx="8250300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3" name="Google Shape;313;g1e0adecf310_2_452"/>
          <p:cNvSpPr txBox="1"/>
          <p:nvPr/>
        </p:nvSpPr>
        <p:spPr>
          <a:xfrm>
            <a:off x="4877573" y="2415471"/>
            <a:ext cx="3787800" cy="14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36549" lvl="0" marL="55689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[Inserta acción #1]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49" lvl="0" marL="55689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[Inserta acción #2]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49" lvl="0" marL="55689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[Inserta acción #3]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49" lvl="0" marL="55689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[Inserta acción #4]</a:t>
            </a:r>
            <a:endParaRPr/>
          </a:p>
        </p:txBody>
      </p:sp>
      <p:grpSp>
        <p:nvGrpSpPr>
          <p:cNvPr id="314" name="Google Shape;314;g1e0adecf310_2_452"/>
          <p:cNvGrpSpPr/>
          <p:nvPr/>
        </p:nvGrpSpPr>
        <p:grpSpPr>
          <a:xfrm>
            <a:off x="512826" y="975628"/>
            <a:ext cx="3983100" cy="3577322"/>
            <a:chOff x="512826" y="975628"/>
            <a:chExt cx="3983100" cy="3577322"/>
          </a:xfrm>
        </p:grpSpPr>
        <p:sp>
          <p:nvSpPr>
            <p:cNvPr id="315" name="Google Shape;315;g1e0adecf310_2_452"/>
            <p:cNvSpPr/>
            <p:nvPr/>
          </p:nvSpPr>
          <p:spPr>
            <a:xfrm>
              <a:off x="512826" y="1200150"/>
              <a:ext cx="3983100" cy="3352800"/>
            </a:xfrm>
            <a:prstGeom prst="roundRect">
              <a:avLst>
                <a:gd fmla="val 3772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g1e0adecf310_2_452"/>
            <p:cNvSpPr/>
            <p:nvPr/>
          </p:nvSpPr>
          <p:spPr>
            <a:xfrm>
              <a:off x="512826" y="975628"/>
              <a:ext cx="3983100" cy="613800"/>
            </a:xfrm>
            <a:prstGeom prst="roundRect">
              <a:avLst>
                <a:gd fmla="val 50000" name="adj"/>
              </a:avLst>
            </a:prstGeom>
            <a:solidFill>
              <a:srgbClr val="00A1D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Aprendizajes</a:t>
              </a:r>
              <a:endParaRPr/>
            </a:p>
          </p:txBody>
        </p:sp>
        <p:sp>
          <p:nvSpPr>
            <p:cNvPr id="317" name="Google Shape;317;g1e0adecf310_2_452"/>
            <p:cNvSpPr/>
            <p:nvPr/>
          </p:nvSpPr>
          <p:spPr>
            <a:xfrm>
              <a:off x="707920" y="1657350"/>
              <a:ext cx="3592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1270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2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¿Qué funcionó? ¿Qué no funcionó? ¿Qué aprendimos de eso?</a:t>
              </a:r>
              <a:endParaRPr b="1" i="1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8" name="Google Shape;318;g1e0adecf310_2_452"/>
          <p:cNvSpPr txBox="1"/>
          <p:nvPr/>
        </p:nvSpPr>
        <p:spPr>
          <a:xfrm>
            <a:off x="707920" y="2415470"/>
            <a:ext cx="3787800" cy="14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36549" lvl="0" marL="55689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[Inserta aprendizaje #1]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49" lvl="0" marL="55689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[Inserta aprendizaje #2]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49" lvl="0" marL="55689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[Inserta aprendizaje #3]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49" lvl="0" marL="55689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[Inserta aprendizaje #4]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g1e0adecf310_2_452"/>
          <p:cNvSpPr/>
          <p:nvPr/>
        </p:nvSpPr>
        <p:spPr>
          <a:xfrm>
            <a:off x="3667887" y="170481"/>
            <a:ext cx="3103500" cy="685800"/>
          </a:xfrm>
          <a:prstGeom prst="wedgeRectCallout">
            <a:avLst>
              <a:gd fmla="val -33737" name="adj1"/>
              <a:gd fmla="val 100452" name="adj2"/>
            </a:avLst>
          </a:prstGeom>
          <a:solidFill>
            <a:srgbClr val="FFFF00"/>
          </a:solidFill>
          <a:ln>
            <a:noFill/>
          </a:ln>
          <a:effectLst>
            <a:outerShdw blurRad="330200" rotWithShape="0" algn="tl" dir="2700000" dist="38100">
              <a:srgbClr val="000000">
                <a:alpha val="1569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Más allá de los datos cuantitativos, incluí conclusiones cualitativos.</a:t>
            </a:r>
            <a:endParaRPr b="0" i="1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3"/>
          <p:cNvSpPr txBox="1"/>
          <p:nvPr/>
        </p:nvSpPr>
        <p:spPr>
          <a:xfrm>
            <a:off x="376251" y="4867300"/>
            <a:ext cx="33714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1" sz="800" u="none" cap="none" strike="noStrike">
              <a:solidFill>
                <a:srgbClr val="43434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aphicFrame>
        <p:nvGraphicFramePr>
          <p:cNvPr id="325" name="Google Shape;325;p13"/>
          <p:cNvGraphicFramePr/>
          <p:nvPr/>
        </p:nvGraphicFramePr>
        <p:xfrm>
          <a:off x="474354" y="8841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{56259EF0-57F0-40CD-9772-9BDF4406E2EE}</a:tableStyleId>
              </a:tblPr>
              <a:tblGrid>
                <a:gridCol w="2775750"/>
                <a:gridCol w="2775750"/>
                <a:gridCol w="2775750"/>
              </a:tblGrid>
              <a:tr h="72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¿Qué funcionó?</a:t>
                      </a:r>
                      <a:endParaRPr b="1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45725" marB="45725" marR="91450" marL="91450" anchor="ctr">
                    <a:lnL cap="flat" cmpd="sng" w="152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A1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¿Qué fue lo que no funcionó?</a:t>
                      </a:r>
                      <a:endParaRPr b="1" sz="16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45725" marB="45725" marR="91450" marL="91450" anchor="ctr">
                    <a:lnL cap="flat" cmpd="sng" w="152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A1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¿Cómo ajustaremos nuestra estrategia en el futuro?</a:t>
                      </a:r>
                      <a:endParaRPr b="1" sz="16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45725" marB="45725" marR="91450" marL="91450" anchor="ctr">
                    <a:lnL cap="flat" cmpd="sng" w="152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A1DA"/>
                    </a:solidFill>
                  </a:tcPr>
                </a:tc>
              </a:tr>
              <a:tr h="2848375"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Source Sans Pro"/>
                        <a:buChar char="•"/>
                      </a:pPr>
                      <a:r>
                        <a:rPr lang="en" sz="1200" u="none" cap="none" strike="noStrike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La estrategia con influencers utilizada aumentó significativamente la comunidad.</a:t>
                      </a:r>
                      <a:endParaRPr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indent="-171450" lvl="0" marL="1714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Source Sans Pro"/>
                        <a:buChar char="•"/>
                      </a:pPr>
                      <a:r>
                        <a:rPr lang="en" sz="1200" u="none" cap="none" strike="noStrike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La estrategia de contenidos cumplió con el objetivo de clics en enlaces.</a:t>
                      </a:r>
                      <a:endParaRPr sz="1200" u="none" cap="none" strike="noStrike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228600" marB="320025" marR="182875" marL="182875">
                    <a:lnL cap="flat" cmpd="sng" w="152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Source Sans Pro"/>
                        <a:buChar char="•"/>
                      </a:pPr>
                      <a:r>
                        <a:rPr lang="en" sz="1200" u="none" cap="none" strike="noStrike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No se alcanzó el objetivo de interacciones del mes.</a:t>
                      </a:r>
                      <a:endParaRPr sz="1200" u="none" cap="none" strike="noStrike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228600" marB="320025" marR="182875" marL="182875">
                    <a:lnL cap="flat" cmpd="sng" w="152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Source Sans Pro"/>
                        <a:buChar char="•"/>
                      </a:pPr>
                      <a:r>
                        <a:rPr lang="en" sz="1200" u="none" cap="none" strike="noStrike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Ajustaremos la estrategia de contenidos para aumentar las interacciones. Sumaremos posts interactivos e historias con stickers.</a:t>
                      </a:r>
                      <a:endParaRPr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indent="-285750" lvl="0" marL="2857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Source Sans Pro"/>
                        <a:buChar char="•"/>
                      </a:pPr>
                      <a:r>
                        <a:rPr lang="en" sz="1200" u="none" cap="none" strike="noStrike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Realizaremos otra colaboración con la influencer.</a:t>
                      </a:r>
                      <a:endParaRPr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indent="-285750" lvl="0" marL="2857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Source Sans Pro"/>
                        <a:buChar char="•"/>
                      </a:pPr>
                      <a:r>
                        <a:rPr lang="en" sz="1200" u="none" cap="none" strike="noStrike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Continuaremos con la estrategia de contenidos orientada a generar clics.</a:t>
                      </a:r>
                      <a:endParaRPr sz="1200" u="none" cap="none" strike="noStrike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228600" marB="320025" marR="182875" marL="182875">
                    <a:lnL cap="flat" cmpd="sng" w="152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26" name="Google Shape;326;p13"/>
          <p:cNvSpPr txBox="1"/>
          <p:nvPr/>
        </p:nvSpPr>
        <p:spPr>
          <a:xfrm>
            <a:off x="512826" y="254336"/>
            <a:ext cx="52272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Conclusiones finales</a:t>
            </a:r>
            <a:endParaRPr b="1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7" name="Google Shape;327;p13"/>
          <p:cNvCxnSpPr/>
          <p:nvPr/>
        </p:nvCxnSpPr>
        <p:spPr>
          <a:xfrm>
            <a:off x="512826" y="666750"/>
            <a:ext cx="8250300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7A7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Pc</dc:creator>
</cp:coreProperties>
</file>